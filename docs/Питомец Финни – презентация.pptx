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76" r:id="rId2"/>
    <p:sldId id="366" r:id="rId3"/>
    <p:sldId id="362" r:id="rId4"/>
    <p:sldId id="364" r:id="rId5"/>
    <p:sldId id="375" r:id="rId6"/>
    <p:sldId id="37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5839"/>
  </p:normalViewPr>
  <p:slideViewPr>
    <p:cSldViewPr snapToGrid="0" showGuides="1">
      <p:cViewPr>
        <p:scale>
          <a:sx n="75" d="100"/>
          <a:sy n="75" d="100"/>
        </p:scale>
        <p:origin x="912" y="149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367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20.10.2026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20.10.2026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20.10.2026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20.10.2026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en-US" sz="4800" dirty="0"/>
              <a:t>CTRL + ALT + WIN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ru-RU" dirty="0"/>
              <a:t>Задача 6. Мобильное приложение по повышению финансовой грамотности детей и молодежи Москвы</a:t>
            </a:r>
          </a:p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Image 3" descr=" ">
            <a:extLst>
              <a:ext uri="{FF2B5EF4-FFF2-40B4-BE49-F238E27FC236}">
                <a16:creationId xmlns:a16="http://schemas.microsoft.com/office/drawing/2014/main" id="{2957EF01-5828-FA13-64EC-5A290DB3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369" y="370325"/>
            <a:ext cx="2717859" cy="118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806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CCC4C63-7A79-991B-0171-09A8C217B0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" t="13124" r="184" b="25504"/>
          <a:stretch>
            <a:fillRect/>
          </a:stretch>
        </p:blipFill>
        <p:spPr>
          <a:xfrm>
            <a:off x="0" y="334963"/>
            <a:ext cx="6456363" cy="2971800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7" y="4876070"/>
            <a:ext cx="4945564" cy="14802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300" dirty="0">
                <a:solidFill>
                  <a:schemeClr val="tx1"/>
                </a:solidFill>
              </a:rPr>
              <a:t>Питомец спорит с ребенком. У каждого свой характер: один тянет всё в копилку, другой бежит за «скидкой», третий просит красивую шапочку. Рядом с репликой – спокойная подсказка. Ребёнок выбирает сам, а не нажимает единственную правильную кнопку</a:t>
            </a:r>
          </a:p>
          <a:p>
            <a:r>
              <a:rPr lang="ru-RU" sz="1300" dirty="0">
                <a:solidFill>
                  <a:schemeClr val="tx1"/>
                </a:solidFill>
              </a:rPr>
              <a:t>Ошибка приносит объяснение, а не штраф. Неудачный ответ в задании всё равно даёт награду и разбор: что произошло и как иначе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Котлова Анна Вячеславовна, Прикладная информатика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>
              <a:spcBef>
                <a:spcPts val="0"/>
              </a:spcBef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</a:t>
            </a:r>
            <a:r>
              <a:rPr lang="ru-RU" dirty="0"/>
              <a:t> </a:t>
            </a:r>
            <a:r>
              <a:rPr lang="ru-RU" i="1" dirty="0">
                <a:solidFill>
                  <a:schemeClr val="tx1"/>
                </a:solidFill>
              </a:rPr>
              <a:t>Мы учились в одной школе, а потом вместе поступили в вуз на одно направление. Так школьная дружба превратилась в команду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учебы: Ивановский государственный университет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Иваново, Ивановская область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КОМАНДА </a:t>
            </a:r>
            <a:br>
              <a:rPr lang="ru-RU" sz="2400" dirty="0">
                <a:solidFill>
                  <a:schemeClr val="accent5"/>
                </a:solidFill>
                <a:latin typeface="+mn-lt"/>
              </a:rPr>
            </a:br>
            <a:r>
              <a:rPr lang="ru-RU" sz="2400" dirty="0">
                <a:solidFill>
                  <a:schemeClr val="accent5"/>
                </a:solidFill>
                <a:latin typeface="+mn-lt"/>
              </a:rPr>
              <a:t>«</a:t>
            </a:r>
            <a:r>
              <a:rPr lang="en-US" sz="2400" dirty="0">
                <a:solidFill>
                  <a:schemeClr val="accent5"/>
                </a:solidFill>
                <a:latin typeface="+mn-lt"/>
              </a:rPr>
              <a:t>CTRL + ALT+ WIN</a:t>
            </a:r>
            <a:r>
              <a:rPr lang="ru-RU" sz="2400" dirty="0">
                <a:solidFill>
                  <a:schemeClr val="accent5"/>
                </a:solidFill>
                <a:latin typeface="+mn-lt"/>
              </a:rPr>
              <a:t>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D77B0D86-8D85-CBD5-15B3-0C7CD1C149D3}"/>
              </a:ext>
            </a:extLst>
          </p:cNvPr>
          <p:cNvSpPr txBox="1">
            <a:spLocks/>
          </p:cNvSpPr>
          <p:nvPr/>
        </p:nvSpPr>
        <p:spPr>
          <a:xfrm>
            <a:off x="6791325" y="2611470"/>
            <a:ext cx="4945565" cy="181797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Карманные деньги у ребёнка появляются раньше, чем умение ими распоряжаться. «Питомец Финни» даёт это умение прожить, а не выучить. У ребёнка есть питомец и </a:t>
            </a:r>
            <a:r>
              <a:rPr lang="ru-RU" dirty="0" err="1">
                <a:solidFill>
                  <a:schemeClr val="tx1"/>
                </a:solidFill>
              </a:rPr>
              <a:t>финкоины</a:t>
            </a:r>
            <a:r>
              <a:rPr lang="ru-RU" dirty="0">
                <a:solidFill>
                  <a:schemeClr val="tx1"/>
                </a:solidFill>
              </a:rPr>
              <a:t>. Каждый игровой период  три решения: что купить обязательно, желательно, а сколько отложить на мечту. Всё как у взрослых, только вместо квартплаты – миска каши, а вместо отпуска – мечта о самокате</a:t>
            </a: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2895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4618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Frontend-developer</a:t>
            </a:r>
            <a:r>
              <a:rPr lang="ru-RU" sz="1200" dirty="0">
                <a:solidFill>
                  <a:schemeClr val="tx1"/>
                </a:solidFill>
              </a:rPr>
              <a:t>, </a:t>
            </a:r>
            <a:r>
              <a:rPr lang="ru-RU" sz="1200" dirty="0" err="1">
                <a:solidFill>
                  <a:schemeClr val="tx1"/>
                </a:solidFill>
              </a:rPr>
              <a:t>project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  <a:r>
              <a:rPr lang="ru-RU" sz="1200" dirty="0" err="1">
                <a:solidFill>
                  <a:schemeClr val="tx1"/>
                </a:solidFill>
              </a:rPr>
              <a:t>manager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@kawiiimo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89303594060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Ивановский государственный университет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4618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Мария Иванова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97254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D22C74E-991A-1BA7-1FC4-DAFC8EAE4362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2" t="1637" r="-2622" b="27490"/>
          <a:stretch>
            <a:fillRect/>
          </a:stretch>
        </p:blipFill>
        <p:spPr>
          <a:xfrm>
            <a:off x="3230788" y="1826554"/>
            <a:ext cx="1722437" cy="15525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273690-3677-19D6-AE7A-A0B3A4AC0F2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2" t="2215" r="-2205" b="25085"/>
          <a:stretch>
            <a:fillRect/>
          </a:stretch>
        </p:blipFill>
        <p:spPr>
          <a:xfrm>
            <a:off x="6524625" y="1827213"/>
            <a:ext cx="1722438" cy="1541462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46952"/>
            <a:ext cx="9862734" cy="376138"/>
          </a:xfrm>
        </p:spPr>
        <p:txBody>
          <a:bodyPr/>
          <a:lstStyle/>
          <a:p>
            <a:r>
              <a:rPr lang="ru-RU" sz="1800" dirty="0"/>
              <a:t>КОМАНДА «CTRL + ALT + WIN»</a:t>
            </a:r>
            <a:endParaRPr lang="ru-RU" sz="1800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144830" y="4250028"/>
            <a:ext cx="1894354" cy="1624612"/>
          </a:xfrm>
        </p:spPr>
        <p:txBody>
          <a:bodyPr>
            <a:normAutofit/>
          </a:bodyPr>
          <a:lstStyle/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 err="1">
                <a:solidFill>
                  <a:schemeClr val="tx1"/>
                </a:solidFill>
              </a:rPr>
              <a:t>Backend-developer</a:t>
            </a:r>
            <a:r>
              <a:rPr lang="ru-RU" sz="1200" dirty="0">
                <a:solidFill>
                  <a:schemeClr val="tx1"/>
                </a:solidFill>
              </a:rPr>
              <a:t>, UX/UI-</a:t>
            </a:r>
            <a:r>
              <a:rPr lang="ru-RU" sz="1200" dirty="0" err="1">
                <a:solidFill>
                  <a:schemeClr val="tx1"/>
                </a:solidFill>
              </a:rPr>
              <a:t>designer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@kotlovchik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89158371112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Ивановский государственный университет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314482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Анна   Котлова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41290"/>
            <a:ext cx="9862734" cy="376138"/>
          </a:xfrm>
        </p:spPr>
        <p:txBody>
          <a:bodyPr/>
          <a:lstStyle/>
          <a:p>
            <a:r>
              <a:rPr lang="ru-RU" sz="1800" dirty="0">
                <a:latin typeface="+mn-lt"/>
              </a:rPr>
              <a:t>КОМАНДА </a:t>
            </a:r>
            <a:r>
              <a:rPr lang="ru-RU" sz="1800" dirty="0"/>
              <a:t>«CTRL + ALT + WIN»</a:t>
            </a:r>
            <a:endParaRPr lang="ru-RU" sz="1800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6" y="1602273"/>
            <a:ext cx="9544248" cy="934263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Вместе участвовали в кейс-чемпионате – делали продукт для банка. Оттуда и привычка начинать с вопроса «а кому это на самом деле нужно»</a:t>
            </a:r>
          </a:p>
          <a:p>
            <a:r>
              <a:rPr lang="ru-RU" dirty="0">
                <a:solidFill>
                  <a:schemeClr val="tx1"/>
                </a:solidFill>
              </a:rPr>
              <a:t>Любим путешествовать вместе. Сплавляться по Катуни побоялись, зато помочили в ней ноги под дождём. Фотография в розовых дождевиках как раз оттуда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10127908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Главная сложность – не дать игре превратиться в трекер расходов с картинкой. Таблица «потратил –  осталось» ребёнка не учит, он просто заполняет клетки. Нам нужно было, чтобы за каждым числом стояло последствие, и чтобы это последствие было видно глазами, а не прочитано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Вторая сложность – говорить на языке семилетнего. Первые версии были слишком взрослыми: длинные формулировки, сложная арифметика в заданиях, интонация учителя. Всё переписали: числа стали круглыми, фразы короткими, а игра перестала поучать и начала объяснять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1"/>
            <a:ext cx="9544248" cy="105535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1"/>
                </a:solidFill>
              </a:rPr>
              <a:t>Мы любим геймдев, и нам было интересно проверить, может ли игра учить по-настоящему, а не просто развлекать с образовательной подписью на коробке. А ещё хотелось сделать что-то полезное для детей. Взрослым приложений про финансы – очень много, ребёнку в начальной школе — почти ничего, и это несправедливо: решения он принимает уже сейчас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5048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 err="1">
                <a:solidFill>
                  <a:schemeClr val="tx1"/>
                </a:solidFill>
              </a:rPr>
              <a:t>React</a:t>
            </a:r>
            <a:r>
              <a:rPr lang="ru-RU" sz="1400" dirty="0">
                <a:solidFill>
                  <a:schemeClr val="tx1"/>
                </a:solidFill>
              </a:rPr>
              <a:t> 18 и </a:t>
            </a:r>
            <a:r>
              <a:rPr lang="ru-RU" sz="1400" dirty="0" err="1">
                <a:solidFill>
                  <a:schemeClr val="tx1"/>
                </a:solidFill>
              </a:rPr>
              <a:t>TypeScript</a:t>
            </a:r>
            <a:r>
              <a:rPr lang="ru-RU" sz="1400" dirty="0">
                <a:solidFill>
                  <a:schemeClr val="tx1"/>
                </a:solidFill>
              </a:rPr>
              <a:t>, сборка </a:t>
            </a:r>
            <a:r>
              <a:rPr lang="ru-RU" sz="1400" dirty="0" err="1">
                <a:solidFill>
                  <a:schemeClr val="tx1"/>
                </a:solidFill>
              </a:rPr>
              <a:t>Vite</a:t>
            </a:r>
            <a:r>
              <a:rPr lang="ru-RU" sz="1400" dirty="0">
                <a:solidFill>
                  <a:schemeClr val="tx1"/>
                </a:solidFill>
              </a:rPr>
              <a:t>, упаковка в </a:t>
            </a:r>
            <a:r>
              <a:rPr lang="ru-RU" sz="1400" dirty="0" err="1">
                <a:solidFill>
                  <a:schemeClr val="tx1"/>
                </a:solidFill>
              </a:rPr>
              <a:t>Android</a:t>
            </a:r>
            <a:r>
              <a:rPr lang="ru-RU" sz="1400" dirty="0">
                <a:solidFill>
                  <a:schemeClr val="tx1"/>
                </a:solidFill>
              </a:rPr>
              <a:t>-приложение через </a:t>
            </a:r>
            <a:r>
              <a:rPr lang="ru-RU" sz="1400" dirty="0" err="1">
                <a:solidFill>
                  <a:schemeClr val="tx1"/>
                </a:solidFill>
              </a:rPr>
              <a:t>Capacitor</a:t>
            </a:r>
            <a:r>
              <a:rPr lang="ru-RU" sz="1400" dirty="0">
                <a:solidFill>
                  <a:schemeClr val="tx1"/>
                </a:solidFill>
              </a:rPr>
              <a:t>. Данные хранятся на устройстве, сервер не нужен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Код разделён на слои: учебный контент лежит отдельно от игровой экономики, а экономика –  отдельно от интерфейса. Новое задание добавляется правкой одного файла, без изменений в логике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Расчёты бюджета, покупок, копилки и роста питомца закрыты 116 автоматическими тестами. Отдельные тесты следят за языком: чтобы тексты оставались нейтральными и понятными ребёнку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Приложение не запрашивает ни одного разрешения </a:t>
            </a:r>
            <a:r>
              <a:rPr lang="ru-RU" sz="1400" dirty="0" err="1">
                <a:solidFill>
                  <a:schemeClr val="tx1"/>
                </a:solidFill>
              </a:rPr>
              <a:t>Android</a:t>
            </a:r>
            <a:r>
              <a:rPr lang="ru-RU" sz="1400" dirty="0">
                <a:solidFill>
                  <a:schemeClr val="tx1"/>
                </a:solidFill>
              </a:rPr>
              <a:t> и не выходит в сеть. Работает на телефонах от </a:t>
            </a:r>
            <a:r>
              <a:rPr lang="ru-RU" sz="1400" dirty="0" err="1">
                <a:solidFill>
                  <a:schemeClr val="tx1"/>
                </a:solidFill>
              </a:rPr>
              <a:t>Android</a:t>
            </a:r>
            <a:r>
              <a:rPr lang="ru-RU" sz="1400" dirty="0">
                <a:solidFill>
                  <a:schemeClr val="tx1"/>
                </a:solidFill>
              </a:rPr>
              <a:t> 5.1 и на планшетах</a:t>
            </a: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87292" y="1841710"/>
            <a:ext cx="4957144" cy="443543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ru-RU" sz="1500" b="1" dirty="0">
                <a:solidFill>
                  <a:schemeClr val="tx1"/>
                </a:solidFill>
              </a:rPr>
              <a:t>От игры к полноценному инструменту финансового образования детей</a:t>
            </a:r>
          </a:p>
          <a:p>
            <a:r>
              <a:rPr lang="ru-RU" sz="1600" dirty="0">
                <a:solidFill>
                  <a:schemeClr val="tx1"/>
                </a:solidFill>
              </a:rPr>
              <a:t>Развитие продукта – добавить два уровня сложности для детей 7–8 и 9–11 лет, новые задания и события, визуальные реакции питомца и интерактивную комнату</a:t>
            </a:r>
          </a:p>
          <a:p>
            <a:r>
              <a:rPr lang="ru-RU" sz="1600" dirty="0">
                <a:solidFill>
                  <a:schemeClr val="tx1"/>
                </a:solidFill>
              </a:rPr>
              <a:t>Семейное применение – расширить раздел для родителей: настройка размера карманных денег, несколько детских профилей, резервное копирование и отчёт о прогрессе</a:t>
            </a:r>
          </a:p>
          <a:p>
            <a:r>
              <a:rPr lang="ru-RU" sz="1600" dirty="0">
                <a:solidFill>
                  <a:schemeClr val="tx1"/>
                </a:solidFill>
              </a:rPr>
              <a:t>Образовательное применение – использовать игру как дополнительный инструмент для занятий по финансовой грамотности в школе и совместной работы ребёнка с взрослым. В текущей версии уже заложены задания, </a:t>
            </a:r>
            <a:r>
              <a:rPr lang="ru-RU" sz="1600" dirty="0" err="1">
                <a:solidFill>
                  <a:schemeClr val="tx1"/>
                </a:solidFill>
              </a:rPr>
              <a:t>финсловарь</a:t>
            </a:r>
            <a:r>
              <a:rPr lang="ru-RU" sz="1600" dirty="0">
                <a:solidFill>
                  <a:schemeClr val="tx1"/>
                </a:solidFill>
              </a:rPr>
              <a:t> и соответствие компетенциям финансовой грамотности 7–11 лет </a:t>
            </a:r>
          </a:p>
          <a:p>
            <a:r>
              <a:rPr lang="ru-RU" sz="1600" dirty="0">
                <a:solidFill>
                  <a:schemeClr val="tx1"/>
                </a:solidFill>
              </a:rPr>
              <a:t>Масштабирование – расширять тематику от бюджета и накоплений к предпринимательству, займам, страхованию и другим финансовым сценариям; техническая архитектура позволяет добавлять новый контент без изменения игровой логики</a:t>
            </a:r>
          </a:p>
          <a:p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4"/>
            <a:ext cx="5214724" cy="36512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ПРОБЛЕМА И ДЛЯ КОГО МЫ ЕЁ РЕШАЕМ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6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Карманные деньги, подарки, участие в семейных покупках – всё это у ребёнка уже есть.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А навыка нет: решение принято сегодня, последствие видно через месяц, связь теряется.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На настоящих деньгах ошибаться дорого, но без ошибок навык не появляется.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Книжки и уроки объясняют словами: в 7–11 лет это быстро надоедает.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Детские банковские карты дают инструмент, но не учат выбирать.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Квизы и тесты проверяют память, а не решение.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2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Игра, где решение принимает ребёнок, а последствие видно сразу – по состоянию питомца.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Ошибка не наказывает, а объясняется: достигнутое никогда не отнимается.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</a:rPr>
              <a:t>Взрослый получает не отчёт, а поводы для разговора.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3"/>
          </p:nvPr>
        </p:nvSpPr>
        <p:spPr/>
        <p:txBody>
          <a:bodyPr wrap="square"/>
          <a:lstStyle/>
          <a:p>
            <a:r>
              <a:rPr sz="1500" b="1">
                <a:solidFill>
                  <a:srgbClr val="C9B3FF"/>
                </a:solidFill>
              </a:rPr>
              <a:t>Проблема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4"/>
          </p:nvPr>
        </p:nvSpPr>
        <p:spPr/>
        <p:txBody>
          <a:bodyPr wrap="square"/>
          <a:lstStyle/>
          <a:p>
            <a:r>
              <a:rPr sz="1500" b="1">
                <a:solidFill>
                  <a:srgbClr val="C9B3FF"/>
                </a:solidFill>
              </a:rPr>
              <a:t>Как учат сейчас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5"/>
          </p:nvPr>
        </p:nvSpPr>
        <p:spPr/>
        <p:txBody>
          <a:bodyPr wrap="square"/>
          <a:lstStyle/>
          <a:p>
            <a:r>
              <a:rPr sz="1500" b="1">
                <a:solidFill>
                  <a:srgbClr val="C9B3FF"/>
                </a:solidFill>
              </a:rPr>
              <a:t>Наше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1152000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Дети 7–11 лет, которые читают короткие фразы и считают в пределах сотен. И взрослый рядом – родитель или учитель: он видит прогресс, но не решает за ребёнка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2015999"/>
            <a:ext cx="11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B3FF"/>
                </a:solidFill>
              </a:rPr>
              <a:t>Ребёнок принимает решение сам – и сразу видит, к чему оно привело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37"/>
          </p:nvPr>
        </p:nvSpPr>
        <p:spPr>
          <a:xfrm>
            <a:off x="1766536" y="1623138"/>
            <a:ext cx="3866856" cy="423628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Личный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8"/>
          </p:nvPr>
        </p:nvSpPr>
        <p:spPr>
          <a:xfrm>
            <a:off x="1766536" y="2075026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Расходы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не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больше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доходов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Экран</a:t>
            </a:r>
            <a:r>
              <a:rPr sz="1200" b="0" dirty="0">
                <a:solidFill>
                  <a:srgbClr val="D6CFE4"/>
                </a:solidFill>
              </a:rPr>
              <a:t> «</a:t>
            </a:r>
            <a:r>
              <a:rPr sz="1200" b="0" dirty="0" err="1">
                <a:solidFill>
                  <a:srgbClr val="D6CFE4"/>
                </a:solidFill>
              </a:rPr>
              <a:t>План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бюджета</a:t>
            </a:r>
            <a:r>
              <a:rPr sz="1200" b="0" dirty="0">
                <a:solidFill>
                  <a:srgbClr val="D6CFE4"/>
                </a:solidFill>
              </a:rPr>
              <a:t>»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9"/>
          </p:nvPr>
        </p:nvSpPr>
        <p:spPr>
          <a:xfrm>
            <a:off x="1747180" y="3227122"/>
            <a:ext cx="3866856" cy="403756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Нужное и желаемое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1747180" y="3630878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Обязательные</a:t>
            </a:r>
            <a:r>
              <a:rPr sz="1200" b="0" dirty="0">
                <a:solidFill>
                  <a:srgbClr val="D6CFE4"/>
                </a:solidFill>
              </a:rPr>
              <a:t> и </a:t>
            </a:r>
            <a:r>
              <a:rPr sz="1200" b="0" dirty="0" err="1">
                <a:solidFill>
                  <a:srgbClr val="D6CFE4"/>
                </a:solidFill>
              </a:rPr>
              <a:t>необязательные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расходы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Лавка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из</a:t>
            </a:r>
            <a:r>
              <a:rPr sz="1200" b="0" dirty="0">
                <a:solidFill>
                  <a:srgbClr val="D6CFE4"/>
                </a:solidFill>
              </a:rPr>
              <a:t> 12 </a:t>
            </a:r>
            <a:r>
              <a:rPr sz="1200" b="0" dirty="0" err="1">
                <a:solidFill>
                  <a:srgbClr val="D6CFE4"/>
                </a:solidFill>
              </a:rPr>
              <a:t>товаров</a:t>
            </a:r>
            <a:endParaRPr sz="1200" b="0" dirty="0">
              <a:solidFill>
                <a:srgbClr val="D6CFE4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1747180" y="4811234"/>
            <a:ext cx="3866856" cy="403913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Выбор при нехватке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42"/>
          </p:nvPr>
        </p:nvSpPr>
        <p:spPr>
          <a:xfrm>
            <a:off x="1747180" y="5243407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Планирование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покупок</a:t>
            </a:r>
            <a:r>
              <a:rPr sz="1200" b="0" dirty="0">
                <a:solidFill>
                  <a:srgbClr val="D6CFE4"/>
                </a:solidFill>
              </a:rPr>
              <a:t>, </a:t>
            </a:r>
            <a:r>
              <a:rPr sz="1200" b="0" dirty="0" err="1">
                <a:solidFill>
                  <a:srgbClr val="D6CFE4"/>
                </a:solidFill>
              </a:rPr>
              <a:t>когда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на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всё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не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хватает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Задания</a:t>
            </a:r>
            <a:endParaRPr sz="1200" b="0" dirty="0">
              <a:solidFill>
                <a:srgbClr val="D6CFE4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3"/>
          </p:nvPr>
        </p:nvSpPr>
        <p:spPr>
          <a:xfrm>
            <a:off x="7439643" y="1623138"/>
            <a:ext cx="3866856" cy="423628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Цель и накопления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4"/>
          </p:nvPr>
        </p:nvSpPr>
        <p:spPr>
          <a:xfrm>
            <a:off x="7439643" y="2012041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Краткосрочная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цель</a:t>
            </a:r>
            <a:r>
              <a:rPr sz="1200" b="0" dirty="0">
                <a:solidFill>
                  <a:srgbClr val="D6CFE4"/>
                </a:solidFill>
              </a:rPr>
              <a:t> и </a:t>
            </a:r>
            <a:r>
              <a:rPr sz="1200" b="0" dirty="0" err="1">
                <a:solidFill>
                  <a:srgbClr val="D6CFE4"/>
                </a:solidFill>
              </a:rPr>
              <a:t>регулярные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взносы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Копилка</a:t>
            </a:r>
            <a:endParaRPr sz="1200" b="0" dirty="0">
              <a:solidFill>
                <a:srgbClr val="D6CFE4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45"/>
          </p:nvPr>
        </p:nvSpPr>
        <p:spPr>
          <a:xfrm>
            <a:off x="7420287" y="3227122"/>
            <a:ext cx="3866856" cy="403756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Оценка решений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6"/>
          </p:nvPr>
        </p:nvSpPr>
        <p:spPr>
          <a:xfrm>
            <a:off x="7420287" y="3630877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Объяснить</a:t>
            </a:r>
            <a:r>
              <a:rPr sz="1200" b="0" dirty="0">
                <a:solidFill>
                  <a:srgbClr val="D6CFE4"/>
                </a:solidFill>
              </a:rPr>
              <a:t>, к </a:t>
            </a:r>
            <a:r>
              <a:rPr sz="1200" b="0" dirty="0" err="1">
                <a:solidFill>
                  <a:srgbClr val="D6CFE4"/>
                </a:solidFill>
              </a:rPr>
              <a:t>чему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привело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решение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Итоги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недели</a:t>
            </a:r>
            <a:endParaRPr sz="1200" b="0" dirty="0">
              <a:solidFill>
                <a:srgbClr val="D6CFE4"/>
              </a:solidFill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47"/>
          </p:nvPr>
        </p:nvSpPr>
        <p:spPr>
          <a:xfrm>
            <a:off x="7420287" y="4811234"/>
            <a:ext cx="3866856" cy="403913"/>
          </a:xfrm>
        </p:spPr>
        <p:txBody>
          <a:bodyPr wrap="square"/>
          <a:lstStyle/>
          <a:p>
            <a:r>
              <a:rPr b="1">
                <a:solidFill>
                  <a:srgbClr val="FFFFFF"/>
                </a:solidFill>
              </a:rPr>
              <a:t>Вместе со взрослым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7420287" y="5243407"/>
            <a:ext cx="3866856" cy="672075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1200" b="0" dirty="0" err="1">
                <a:solidFill>
                  <a:srgbClr val="D6CFE4"/>
                </a:solidFill>
              </a:rPr>
              <a:t>Приложение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как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инструмент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семьи</a:t>
            </a:r>
            <a:r>
              <a:rPr sz="1200" b="0" dirty="0">
                <a:solidFill>
                  <a:srgbClr val="D6CFE4"/>
                </a:solidFill>
              </a:rPr>
              <a:t>. </a:t>
            </a:r>
            <a:r>
              <a:rPr sz="1200" b="0" dirty="0" err="1">
                <a:solidFill>
                  <a:srgbClr val="D6CFE4"/>
                </a:solidFill>
              </a:rPr>
              <a:t>Раздел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для</a:t>
            </a:r>
            <a:r>
              <a:rPr sz="1200" b="0" dirty="0">
                <a:solidFill>
                  <a:srgbClr val="D6CFE4"/>
                </a:solidFill>
              </a:rPr>
              <a:t> </a:t>
            </a:r>
            <a:r>
              <a:rPr sz="1200" b="0" dirty="0" err="1">
                <a:solidFill>
                  <a:srgbClr val="D6CFE4"/>
                </a:solidFill>
              </a:rPr>
              <a:t>взрослого</a:t>
            </a:r>
            <a:endParaRPr sz="1200" b="0" dirty="0">
              <a:solidFill>
                <a:srgbClr val="D6CFE4"/>
              </a:solidFill>
            </a:endParaRPr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ЧЕМУ УЧИТ ИГРА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49"/>
          </p:nvPr>
        </p:nvSpPr>
        <p:spPr>
          <a:xfrm>
            <a:off x="671488" y="1588413"/>
            <a:ext cx="771003" cy="423628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50"/>
          </p:nvPr>
        </p:nvSpPr>
        <p:spPr>
          <a:xfrm>
            <a:off x="652132" y="3192397"/>
            <a:ext cx="771003" cy="403756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51"/>
          </p:nvPr>
        </p:nvSpPr>
        <p:spPr>
          <a:xfrm>
            <a:off x="652132" y="4776509"/>
            <a:ext cx="771003" cy="403913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03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52"/>
          </p:nvPr>
        </p:nvSpPr>
        <p:spPr>
          <a:xfrm>
            <a:off x="6344595" y="1588413"/>
            <a:ext cx="771003" cy="423628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04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53"/>
          </p:nvPr>
        </p:nvSpPr>
        <p:spPr>
          <a:xfrm>
            <a:off x="6325239" y="3192397"/>
            <a:ext cx="771003" cy="403756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05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25239" y="4776509"/>
            <a:ext cx="771003" cy="403913"/>
          </a:xfrm>
        </p:spPr>
        <p:txBody>
          <a:bodyPr wrap="square"/>
          <a:lstStyle/>
          <a:p>
            <a:r>
              <a:rPr sz="2400" b="1">
                <a:solidFill>
                  <a:srgbClr val="C9B3FF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000" y="75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6CFE4"/>
                </a:solidFill>
              </a:rPr>
              <a:t>Базовый уровень Единой рамки компетенций по финансовой грамотности, 7–11 лет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ПОЧЕМУ ИМЕННО ПИТОМЕЦ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224000"/>
            <a:ext cx="568800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 dirty="0" err="1">
                <a:solidFill>
                  <a:srgbClr val="C9B3FF"/>
                </a:solidFill>
              </a:rPr>
              <a:t>Последствие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видно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сразу</a:t>
            </a:r>
            <a:r>
              <a:rPr sz="1600" b="1" dirty="0">
                <a:solidFill>
                  <a:srgbClr val="C9B3FF"/>
                </a:solidFill>
              </a:rPr>
              <a:t>.</a:t>
            </a:r>
            <a:r>
              <a:rPr sz="1600" dirty="0">
                <a:solidFill>
                  <a:srgbClr val="FFFFFF"/>
                </a:solidFill>
              </a:rPr>
              <a:t>  </a:t>
            </a:r>
            <a:r>
              <a:rPr sz="1600" dirty="0" err="1">
                <a:solidFill>
                  <a:srgbClr val="FFFFFF"/>
                </a:solidFill>
              </a:rPr>
              <a:t>Купил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еду</a:t>
            </a:r>
            <a:r>
              <a:rPr sz="1600" dirty="0">
                <a:solidFill>
                  <a:srgbClr val="FFFFFF"/>
                </a:solidFill>
              </a:rPr>
              <a:t> – </a:t>
            </a:r>
            <a:r>
              <a:rPr sz="1600" dirty="0" err="1">
                <a:solidFill>
                  <a:srgbClr val="FFFFFF"/>
                </a:solidFill>
              </a:rPr>
              <a:t>питомец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сыт</a:t>
            </a:r>
            <a:r>
              <a:rPr sz="1600" dirty="0">
                <a:solidFill>
                  <a:srgbClr val="FFFFFF"/>
                </a:solidFill>
              </a:rPr>
              <a:t>. </a:t>
            </a:r>
            <a:r>
              <a:rPr sz="1600" dirty="0" err="1">
                <a:solidFill>
                  <a:srgbClr val="FFFFFF"/>
                </a:solidFill>
              </a:rPr>
              <a:t>Потратил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всё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на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игрушки</a:t>
            </a:r>
            <a:r>
              <a:rPr sz="1600" dirty="0">
                <a:solidFill>
                  <a:srgbClr val="FFFFFF"/>
                </a:solidFill>
              </a:rPr>
              <a:t> – </a:t>
            </a:r>
            <a:r>
              <a:rPr sz="1600" dirty="0" err="1">
                <a:solidFill>
                  <a:srgbClr val="FFFFFF"/>
                </a:solidFill>
              </a:rPr>
              <a:t>проголодался</a:t>
            </a:r>
            <a:r>
              <a:rPr sz="1600" dirty="0">
                <a:solidFill>
                  <a:srgbClr val="FFFFFF"/>
                </a:solidFill>
              </a:rPr>
              <a:t>. </a:t>
            </a:r>
            <a:r>
              <a:rPr sz="1600" dirty="0" err="1">
                <a:solidFill>
                  <a:srgbClr val="FFFFFF"/>
                </a:solidFill>
              </a:rPr>
              <a:t>Ребёнку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нужно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верить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на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слово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1" dirty="0" err="1">
                <a:solidFill>
                  <a:srgbClr val="C9B3FF"/>
                </a:solidFill>
              </a:rPr>
              <a:t>Забота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мотивирует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сильнее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очков</a:t>
            </a:r>
            <a:r>
              <a:rPr sz="1600" b="1" dirty="0">
                <a:solidFill>
                  <a:srgbClr val="C9B3FF"/>
                </a:solidFill>
              </a:rPr>
              <a:t>.</a:t>
            </a:r>
            <a:r>
              <a:rPr sz="1600" dirty="0">
                <a:solidFill>
                  <a:srgbClr val="FFFFFF"/>
                </a:solidFill>
              </a:rPr>
              <a:t>  О </a:t>
            </a:r>
            <a:r>
              <a:rPr sz="1600" dirty="0" err="1">
                <a:solidFill>
                  <a:srgbClr val="FFFFFF"/>
                </a:solidFill>
              </a:rPr>
              <a:t>питомце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хочется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заботиться</a:t>
            </a:r>
            <a:r>
              <a:rPr sz="1600" dirty="0">
                <a:solidFill>
                  <a:srgbClr val="FFFFFF"/>
                </a:solidFill>
              </a:rPr>
              <a:t>, и </a:t>
            </a:r>
            <a:r>
              <a:rPr sz="1600" dirty="0" err="1">
                <a:solidFill>
                  <a:srgbClr val="FFFFFF"/>
                </a:solidFill>
              </a:rPr>
              <a:t>планирование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перестаёт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быть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скучной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обязанностью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1" dirty="0" err="1">
                <a:solidFill>
                  <a:srgbClr val="C9B3FF"/>
                </a:solidFill>
              </a:rPr>
              <a:t>Рост</a:t>
            </a:r>
            <a:r>
              <a:rPr sz="1600" b="1" dirty="0">
                <a:solidFill>
                  <a:srgbClr val="C9B3FF"/>
                </a:solidFill>
              </a:rPr>
              <a:t> – </a:t>
            </a:r>
            <a:r>
              <a:rPr sz="1600" b="1" dirty="0" err="1">
                <a:solidFill>
                  <a:srgbClr val="C9B3FF"/>
                </a:solidFill>
              </a:rPr>
              <a:t>это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серия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решений</a:t>
            </a:r>
            <a:r>
              <a:rPr sz="1600" b="1" dirty="0">
                <a:solidFill>
                  <a:srgbClr val="C9B3FF"/>
                </a:solidFill>
              </a:rPr>
              <a:t>.</a:t>
            </a:r>
            <a:r>
              <a:rPr sz="1600" dirty="0">
                <a:solidFill>
                  <a:srgbClr val="FFFFFF"/>
                </a:solidFill>
              </a:rPr>
              <a:t>  </a:t>
            </a:r>
            <a:r>
              <a:rPr sz="1600" dirty="0" err="1">
                <a:solidFill>
                  <a:srgbClr val="FFFFFF"/>
                </a:solidFill>
              </a:rPr>
              <a:t>Питомец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взрослеет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от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того</a:t>
            </a:r>
            <a:r>
              <a:rPr sz="1600" dirty="0">
                <a:solidFill>
                  <a:srgbClr val="FFFFFF"/>
                </a:solidFill>
              </a:rPr>
              <a:t>, </a:t>
            </a:r>
            <a:r>
              <a:rPr sz="1600" dirty="0" err="1">
                <a:solidFill>
                  <a:srgbClr val="FFFFFF"/>
                </a:solidFill>
              </a:rPr>
              <a:t>как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ребёнок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вёл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бюджет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несколько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недель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подряд</a:t>
            </a:r>
            <a:r>
              <a:rPr sz="1600" dirty="0">
                <a:solidFill>
                  <a:srgbClr val="FFFFFF"/>
                </a:solidFill>
              </a:rPr>
              <a:t>. </a:t>
            </a:r>
            <a:r>
              <a:rPr sz="1600" dirty="0" err="1">
                <a:solidFill>
                  <a:srgbClr val="FFFFFF"/>
                </a:solidFill>
              </a:rPr>
              <a:t>Одним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нажатием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стадию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получить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1" dirty="0" err="1">
                <a:solidFill>
                  <a:srgbClr val="C9B3FF"/>
                </a:solidFill>
              </a:rPr>
              <a:t>Ошибка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безопасна</a:t>
            </a:r>
            <a:r>
              <a:rPr sz="1600" b="1" dirty="0">
                <a:solidFill>
                  <a:srgbClr val="C9B3FF"/>
                </a:solidFill>
              </a:rPr>
              <a:t>.</a:t>
            </a:r>
            <a:r>
              <a:rPr sz="1600" dirty="0">
                <a:solidFill>
                  <a:srgbClr val="FFFFFF"/>
                </a:solidFill>
              </a:rPr>
              <a:t>  </a:t>
            </a:r>
            <a:r>
              <a:rPr sz="1600" dirty="0" err="1">
                <a:solidFill>
                  <a:srgbClr val="FFFFFF"/>
                </a:solidFill>
              </a:rPr>
              <a:t>Питомец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болеет</a:t>
            </a:r>
            <a:r>
              <a:rPr sz="1600" dirty="0">
                <a:solidFill>
                  <a:srgbClr val="FFFFFF"/>
                </a:solidFill>
              </a:rPr>
              <a:t> и </a:t>
            </a:r>
            <a:r>
              <a:rPr sz="1600" dirty="0" err="1">
                <a:solidFill>
                  <a:srgbClr val="FFFFFF"/>
                </a:solidFill>
              </a:rPr>
              <a:t>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умирает</a:t>
            </a:r>
            <a:r>
              <a:rPr sz="1600" dirty="0">
                <a:solidFill>
                  <a:srgbClr val="FFFFFF"/>
                </a:solidFill>
              </a:rPr>
              <a:t>. </a:t>
            </a:r>
            <a:r>
              <a:rPr sz="1600" dirty="0" err="1">
                <a:solidFill>
                  <a:srgbClr val="FFFFFF"/>
                </a:solidFill>
              </a:rPr>
              <a:t>Неудачная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неделя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просто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приносит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меньше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очков</a:t>
            </a:r>
            <a:r>
              <a:rPr sz="1600" dirty="0">
                <a:solidFill>
                  <a:srgbClr val="FFFFFF"/>
                </a:solidFill>
              </a:rPr>
              <a:t>, а </a:t>
            </a:r>
            <a:r>
              <a:rPr sz="1600" dirty="0" err="1">
                <a:solidFill>
                  <a:srgbClr val="FFFFFF"/>
                </a:solidFill>
              </a:rPr>
              <a:t>достигнутое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не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отнимается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sz="1600" b="1" dirty="0" err="1">
                <a:solidFill>
                  <a:srgbClr val="C9B3FF"/>
                </a:solidFill>
              </a:rPr>
              <a:t>Характер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влияет</a:t>
            </a:r>
            <a:r>
              <a:rPr sz="1600" b="1" dirty="0">
                <a:solidFill>
                  <a:srgbClr val="C9B3FF"/>
                </a:solidFill>
              </a:rPr>
              <a:t>, </a:t>
            </a:r>
            <a:r>
              <a:rPr sz="1600" b="1" dirty="0" err="1">
                <a:solidFill>
                  <a:srgbClr val="C9B3FF"/>
                </a:solidFill>
              </a:rPr>
              <a:t>но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не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учит</a:t>
            </a:r>
            <a:r>
              <a:rPr sz="1600" b="1" dirty="0">
                <a:solidFill>
                  <a:srgbClr val="C9B3FF"/>
                </a:solidFill>
              </a:rPr>
              <a:t> </a:t>
            </a:r>
            <a:r>
              <a:rPr sz="1600" b="1" dirty="0" err="1">
                <a:solidFill>
                  <a:srgbClr val="C9B3FF"/>
                </a:solidFill>
              </a:rPr>
              <a:t>плохому</a:t>
            </a:r>
            <a:r>
              <a:rPr sz="1600" b="1" dirty="0">
                <a:solidFill>
                  <a:srgbClr val="C9B3FF"/>
                </a:solidFill>
              </a:rPr>
              <a:t>.</a:t>
            </a:r>
            <a:r>
              <a:rPr sz="1600" dirty="0">
                <a:solidFill>
                  <a:srgbClr val="FFFFFF"/>
                </a:solidFill>
              </a:rPr>
              <a:t>  </a:t>
            </a:r>
            <a:r>
              <a:rPr sz="1600" dirty="0" err="1">
                <a:solidFill>
                  <a:srgbClr val="FFFFFF"/>
                </a:solidFill>
              </a:rPr>
              <a:t>Один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питомец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тянёт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всё</a:t>
            </a:r>
            <a:r>
              <a:rPr sz="1600" dirty="0">
                <a:solidFill>
                  <a:srgbClr val="FFFFFF"/>
                </a:solidFill>
              </a:rPr>
              <a:t> в </a:t>
            </a:r>
            <a:r>
              <a:rPr sz="1600" dirty="0" err="1">
                <a:solidFill>
                  <a:srgbClr val="FFFFFF"/>
                </a:solidFill>
              </a:rPr>
              <a:t>копилку</a:t>
            </a:r>
            <a:r>
              <a:rPr sz="1600" dirty="0">
                <a:solidFill>
                  <a:srgbClr val="FFFFFF"/>
                </a:solidFill>
              </a:rPr>
              <a:t>, </a:t>
            </a:r>
            <a:r>
              <a:rPr sz="1600" dirty="0" err="1">
                <a:solidFill>
                  <a:srgbClr val="FFFFFF"/>
                </a:solidFill>
              </a:rPr>
              <a:t>другой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бежит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за</a:t>
            </a:r>
            <a:r>
              <a:rPr sz="1600" dirty="0">
                <a:solidFill>
                  <a:srgbClr val="FFFFFF"/>
                </a:solidFill>
              </a:rPr>
              <a:t> «</a:t>
            </a:r>
            <a:r>
              <a:rPr sz="1600" dirty="0" err="1">
                <a:solidFill>
                  <a:srgbClr val="FFFFFF"/>
                </a:solidFill>
              </a:rPr>
              <a:t>скидкой</a:t>
            </a:r>
            <a:r>
              <a:rPr sz="1600" dirty="0">
                <a:solidFill>
                  <a:srgbClr val="FFFFFF"/>
                </a:solidFill>
              </a:rPr>
              <a:t>». </a:t>
            </a:r>
            <a:r>
              <a:rPr sz="1600" dirty="0" err="1">
                <a:solidFill>
                  <a:srgbClr val="FFFFFF"/>
                </a:solidFill>
              </a:rPr>
              <a:t>Рядом</a:t>
            </a:r>
            <a:r>
              <a:rPr sz="1600" dirty="0">
                <a:solidFill>
                  <a:srgbClr val="FFFFFF"/>
                </a:solidFill>
              </a:rPr>
              <a:t> с </a:t>
            </a:r>
            <a:r>
              <a:rPr sz="1600" dirty="0" err="1">
                <a:solidFill>
                  <a:srgbClr val="FFFFFF"/>
                </a:solidFill>
              </a:rPr>
              <a:t>репликой</a:t>
            </a:r>
            <a:r>
              <a:rPr sz="1600" dirty="0">
                <a:solidFill>
                  <a:srgbClr val="FFFFFF"/>
                </a:solidFill>
              </a:rPr>
              <a:t> – </a:t>
            </a:r>
            <a:r>
              <a:rPr sz="1600" dirty="0" err="1">
                <a:solidFill>
                  <a:srgbClr val="FFFFFF"/>
                </a:solidFill>
              </a:rPr>
              <a:t>спокойная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 err="1">
                <a:solidFill>
                  <a:srgbClr val="FFFFFF"/>
                </a:solidFill>
              </a:rPr>
              <a:t>подсказка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4" name="Picture 3" descr="finni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02" y="2279229"/>
            <a:ext cx="1368000" cy="1149771"/>
          </a:xfrm>
          <a:prstGeom prst="rect">
            <a:avLst/>
          </a:prstGeom>
        </p:spPr>
      </p:pic>
      <p:pic>
        <p:nvPicPr>
          <p:cNvPr id="5" name="Picture 4" descr="finni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002" y="2171229"/>
            <a:ext cx="1512000" cy="1288800"/>
          </a:xfrm>
          <a:prstGeom prst="rect">
            <a:avLst/>
          </a:prstGeom>
        </p:spPr>
      </p:pic>
      <p:pic>
        <p:nvPicPr>
          <p:cNvPr id="6" name="Picture 5" descr="finni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2002" y="2063229"/>
            <a:ext cx="1655999" cy="1241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76002" y="4007229"/>
            <a:ext cx="136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CFE4"/>
                </a:solidFill>
              </a:rPr>
              <a:t>Малыш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4002" y="4007229"/>
            <a:ext cx="151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CFE4"/>
                </a:solidFill>
              </a:rPr>
              <a:t>Копилка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2002" y="4007229"/>
            <a:ext cx="165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6CFE4"/>
                </a:solidFill>
              </a:rPr>
              <a:t>Хранитель мечты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6002" y="451122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Три стадии Финни. Всего в игре семь питомцев, у каждого три окраса и три стадии – 63 изображения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ИГРОВАЯ НЕДЕЛЯ И ЭКОНОМИКА</a:t>
            </a:r>
          </a:p>
        </p:txBody>
      </p:sp>
      <p:pic>
        <p:nvPicPr>
          <p:cNvPr id="3" name="Picture 2" descr="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152000"/>
            <a:ext cx="6983999" cy="45489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3999" y="5868000"/>
            <a:ext cx="698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Неделя игровая: она идёт в темпе ребёнка и заканчивается, когда он сам подводит итоги. Ждать настоящую неделю не нужно – весь круг проходится за вечер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3999" y="1224000"/>
            <a:ext cx="374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300 Φ</a:t>
            </a:r>
            <a:r>
              <a:rPr sz="1100">
                <a:solidFill>
                  <a:srgbClr val="FFFFFF"/>
                </a:solidFill>
              </a:rPr>
              <a:t>  стартовый бюджет первой недели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220 Φ</a:t>
            </a:r>
            <a:r>
              <a:rPr sz="1100">
                <a:solidFill>
                  <a:srgbClr val="FFFFFF"/>
                </a:solidFill>
              </a:rPr>
              <a:t>  карманные финкоины каждой следующей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3 направления</a:t>
            </a:r>
            <a:r>
              <a:rPr sz="1100">
                <a:solidFill>
                  <a:srgbClr val="FFFFFF"/>
                </a:solidFill>
              </a:rPr>
              <a:t>  обязательное, желаемое, копилка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12 товаров</a:t>
            </a:r>
            <a:r>
              <a:rPr sz="1100">
                <a:solidFill>
                  <a:srgbClr val="FFFFFF"/>
                </a:solidFill>
              </a:rPr>
              <a:t>  шесть обязательных и шесть желаемых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4 события</a:t>
            </a:r>
            <a:r>
              <a:rPr sz="1100">
                <a:solidFill>
                  <a:srgbClr val="FFFFFF"/>
                </a:solidFill>
              </a:rPr>
              <a:t>  подарок, осмотр у доктора, коврик, ярмарка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9B3FF"/>
                </a:solidFill>
              </a:rPr>
              <a:t>7 очков</a:t>
            </a:r>
            <a:r>
              <a:rPr sz="1100">
                <a:solidFill>
                  <a:srgbClr val="FFFFFF"/>
                </a:solidFill>
              </a:rPr>
              <a:t>  за идеальную неделю, три стадии – за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ЧТО РЕАЛИЗОВАНО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1341180" y="2846889"/>
            <a:ext cx="3365637" cy="910516"/>
          </a:xfrm>
        </p:spPr>
        <p:txBody>
          <a:bodyPr wrap="square">
            <a:noAutofit/>
          </a:bodyPr>
          <a:lstStyle/>
          <a:p>
            <a:r>
              <a:rPr sz="1800" b="1" dirty="0">
                <a:solidFill>
                  <a:srgbClr val="C9B3FF"/>
                </a:solidFill>
              </a:rPr>
              <a:t>Все обязательные требования ТЗ закрыты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6662924" y="1743771"/>
            <a:ext cx="4902200" cy="712587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B3FF"/>
                </a:solidFill>
              </a:rPr>
              <a:t>Полный игровой цикл.</a:t>
            </a:r>
            <a:r>
              <a:rPr sz="1400">
                <a:solidFill>
                  <a:srgbClr val="FFFFFF"/>
                </a:solidFill>
              </a:rPr>
              <a:t> От создания питомца до роста: план, покупки, задания, копилка, событие, итоги недели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6662924" y="2600781"/>
            <a:ext cx="4902200" cy="712587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B3FF"/>
                </a:solidFill>
              </a:rPr>
              <a:t>Три связанные механики.</a:t>
            </a:r>
            <a:r>
              <a:rPr sz="1400">
                <a:solidFill>
                  <a:srgbClr val="FFFFFF"/>
                </a:solidFill>
              </a:rPr>
              <a:t> План бюджета, приоритет расходов и накопление на цель – каждая самостоятельна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6662924" y="3457790"/>
            <a:ext cx="4902200" cy="712587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B3FF"/>
                </a:solidFill>
              </a:rPr>
              <a:t>Объяснение после каждого действия.</a:t>
            </a:r>
            <a:r>
              <a:rPr sz="1400">
                <a:solidFill>
                  <a:srgbClr val="FFFFFF"/>
                </a:solidFill>
              </a:rPr>
              <a:t> Что изменилось, почему и что делать дальше – даже если решение неудачное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/>
          </p:nvPr>
        </p:nvSpPr>
        <p:spPr>
          <a:xfrm>
            <a:off x="6662924" y="4314799"/>
            <a:ext cx="4902200" cy="712587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B3FF"/>
                </a:solidFill>
              </a:rPr>
              <a:t>Сохранение и демо-режим.</a:t>
            </a:r>
            <a:r>
              <a:rPr sz="1400">
                <a:solidFill>
                  <a:srgbClr val="FFFFFF"/>
                </a:solidFill>
              </a:rPr>
              <a:t> Прогресс живёт между запусками, сценарий проходится без ожидания суток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662924" y="5171809"/>
            <a:ext cx="4902200" cy="712587"/>
          </a:xfr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B3FF"/>
                </a:solidFill>
              </a:rPr>
              <a:t>Сознательные границы.</a:t>
            </a:r>
            <a:r>
              <a:rPr sz="1400">
                <a:solidFill>
                  <a:srgbClr val="FFFFFF"/>
                </a:solidFill>
              </a:rPr>
              <a:t> Нет звука, покадровой анимации и облака: офлайн, без разрешений и сбора данных</a:t>
            </a:r>
          </a:p>
        </p:txBody>
      </p:sp>
      <p:pic>
        <p:nvPicPr>
          <p:cNvPr id="9" name="Picture 8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6000" y="1080000"/>
            <a:ext cx="1655999" cy="16559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6000" y="4176000"/>
            <a:ext cx="4320000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>
                <a:solidFill>
                  <a:srgbClr val="C9B3FF"/>
                </a:solidFill>
              </a:rPr>
              <a:t>12 заданий</a:t>
            </a:r>
            <a:r>
              <a:rPr sz="1600">
                <a:solidFill>
                  <a:srgbClr val="FFFFFF"/>
                </a:solidFill>
              </a:rPr>
              <a:t>  по трём темам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C9B3FF"/>
                </a:solidFill>
              </a:rPr>
              <a:t>12 товаров</a:t>
            </a:r>
            <a:r>
              <a:rPr sz="1600">
                <a:solidFill>
                  <a:srgbClr val="FFFFFF"/>
                </a:solidFill>
              </a:rPr>
              <a:t>  обязательных и желаемых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C9B3FF"/>
                </a:solidFill>
              </a:rPr>
              <a:t>7 питомцев</a:t>
            </a:r>
            <a:r>
              <a:rPr sz="1600">
                <a:solidFill>
                  <a:srgbClr val="FFFFFF"/>
                </a:solidFill>
              </a:rPr>
              <a:t>  по три окраса и три стадии</a:t>
            </a:r>
          </a:p>
          <a:p>
            <a:pPr>
              <a:spcAft>
                <a:spcPts val="1000"/>
              </a:spcAft>
            </a:pPr>
            <a:r>
              <a:rPr b="1">
                <a:solidFill>
                  <a:srgbClr val="C9B3FF"/>
                </a:solidFill>
              </a:rPr>
              <a:t>16 слов</a:t>
            </a:r>
            <a:r>
              <a:rPr sz="1600">
                <a:solidFill>
                  <a:srgbClr val="FFFFFF"/>
                </a:solidFill>
              </a:rPr>
              <a:t>  в финсловаре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ИНТЕРФЕЙС ДЛЯ 7–11 ЛЕТ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224000"/>
            <a:ext cx="61200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dirty="0" err="1">
                <a:solidFill>
                  <a:srgbClr val="C9B3FF"/>
                </a:solidFill>
              </a:rPr>
              <a:t>Главный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экран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отвечает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на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три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вопроса</a:t>
            </a:r>
            <a:r>
              <a:rPr b="1" dirty="0">
                <a:solidFill>
                  <a:srgbClr val="C9B3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 </a:t>
            </a:r>
            <a:r>
              <a:rPr dirty="0" err="1">
                <a:solidFill>
                  <a:srgbClr val="FFFFFF"/>
                </a:solidFill>
              </a:rPr>
              <a:t>Как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себя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чувствует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питомец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что</a:t>
            </a:r>
            <a:r>
              <a:rPr dirty="0">
                <a:solidFill>
                  <a:srgbClr val="FFFFFF"/>
                </a:solidFill>
              </a:rPr>
              <a:t> с </a:t>
            </a:r>
            <a:r>
              <a:rPr dirty="0" err="1">
                <a:solidFill>
                  <a:srgbClr val="FFFFFF"/>
                </a:solidFill>
              </a:rPr>
              <a:t>деньгами</a:t>
            </a:r>
            <a:r>
              <a:rPr dirty="0">
                <a:solidFill>
                  <a:srgbClr val="FFFFFF"/>
                </a:solidFill>
              </a:rPr>
              <a:t> и </a:t>
            </a:r>
            <a:r>
              <a:rPr dirty="0" err="1">
                <a:solidFill>
                  <a:srgbClr val="FFFFFF"/>
                </a:solidFill>
              </a:rPr>
              <a:t>что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сделать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сейчас</a:t>
            </a:r>
            <a:r>
              <a:rPr dirty="0">
                <a:solidFill>
                  <a:srgbClr val="FFFFFF"/>
                </a:solidFill>
              </a:rPr>
              <a:t> – </a:t>
            </a:r>
            <a:r>
              <a:rPr dirty="0" err="1">
                <a:solidFill>
                  <a:srgbClr val="FFFFFF"/>
                </a:solidFill>
              </a:rPr>
              <a:t>без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прокрутки</a:t>
            </a:r>
            <a:r>
              <a:rPr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dirty="0" err="1">
                <a:solidFill>
                  <a:srgbClr val="C9B3FF"/>
                </a:solidFill>
              </a:rPr>
              <a:t>Язык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по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возрасту</a:t>
            </a:r>
            <a:r>
              <a:rPr b="1" dirty="0">
                <a:solidFill>
                  <a:srgbClr val="C9B3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 Короткие </a:t>
            </a:r>
            <a:r>
              <a:rPr dirty="0" err="1">
                <a:solidFill>
                  <a:srgbClr val="FFFFFF"/>
                </a:solidFill>
              </a:rPr>
              <a:t>фразы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круглые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суммы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счёт</a:t>
            </a:r>
            <a:r>
              <a:rPr dirty="0">
                <a:solidFill>
                  <a:srgbClr val="FFFFFF"/>
                </a:solidFill>
              </a:rPr>
              <a:t> в </a:t>
            </a:r>
            <a:r>
              <a:rPr dirty="0" err="1">
                <a:solidFill>
                  <a:srgbClr val="FFFFFF"/>
                </a:solidFill>
              </a:rPr>
              <a:t>пределах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сотен</a:t>
            </a:r>
            <a:r>
              <a:rPr dirty="0">
                <a:solidFill>
                  <a:srgbClr val="FFFFFF"/>
                </a:solidFill>
              </a:rPr>
              <a:t>. </a:t>
            </a:r>
            <a:r>
              <a:rPr dirty="0" err="1">
                <a:solidFill>
                  <a:srgbClr val="FFFFFF"/>
                </a:solidFill>
              </a:rPr>
              <a:t>Слово</a:t>
            </a:r>
            <a:r>
              <a:rPr dirty="0">
                <a:solidFill>
                  <a:srgbClr val="FFFFFF"/>
                </a:solidFill>
              </a:rPr>
              <a:t> «</a:t>
            </a:r>
            <a:r>
              <a:rPr dirty="0" err="1">
                <a:solidFill>
                  <a:srgbClr val="FFFFFF"/>
                </a:solidFill>
              </a:rPr>
              <a:t>период</a:t>
            </a:r>
            <a:r>
              <a:rPr dirty="0">
                <a:solidFill>
                  <a:srgbClr val="FFFFFF"/>
                </a:solidFill>
              </a:rPr>
              <a:t>» </a:t>
            </a:r>
            <a:r>
              <a:rPr dirty="0" err="1">
                <a:solidFill>
                  <a:srgbClr val="FFFFFF"/>
                </a:solidFill>
              </a:rPr>
              <a:t>дети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не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поняли</a:t>
            </a:r>
            <a:r>
              <a:rPr dirty="0">
                <a:solidFill>
                  <a:srgbClr val="FFFFFF"/>
                </a:solidFill>
              </a:rPr>
              <a:t> – </a:t>
            </a:r>
            <a:r>
              <a:rPr dirty="0" err="1">
                <a:solidFill>
                  <a:srgbClr val="FFFFFF"/>
                </a:solidFill>
              </a:rPr>
              <a:t>везде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стало</a:t>
            </a:r>
            <a:r>
              <a:rPr dirty="0">
                <a:solidFill>
                  <a:srgbClr val="FFFFFF"/>
                </a:solidFill>
              </a:rPr>
              <a:t> «</a:t>
            </a:r>
            <a:r>
              <a:rPr dirty="0" err="1">
                <a:solidFill>
                  <a:srgbClr val="FFFFFF"/>
                </a:solidFill>
              </a:rPr>
              <a:t>неделя</a:t>
            </a:r>
            <a:r>
              <a:rPr dirty="0">
                <a:solidFill>
                  <a:srgbClr val="FFFFFF"/>
                </a:solidFill>
              </a:rPr>
              <a:t>».</a:t>
            </a:r>
          </a:p>
          <a:p>
            <a:pPr>
              <a:spcAft>
                <a:spcPts val="1200"/>
              </a:spcAft>
            </a:pPr>
            <a:r>
              <a:rPr b="1" dirty="0" err="1">
                <a:solidFill>
                  <a:srgbClr val="C9B3FF"/>
                </a:solidFill>
              </a:rPr>
              <a:t>Тексты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не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угадывают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пол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ребёнка</a:t>
            </a:r>
            <a:r>
              <a:rPr b="1" dirty="0">
                <a:solidFill>
                  <a:srgbClr val="C9B3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 </a:t>
            </a:r>
            <a:r>
              <a:rPr dirty="0" err="1">
                <a:solidFill>
                  <a:srgbClr val="FFFFFF"/>
                </a:solidFill>
              </a:rPr>
              <a:t>Не</a:t>
            </a:r>
            <a:r>
              <a:rPr dirty="0">
                <a:solidFill>
                  <a:srgbClr val="FFFFFF"/>
                </a:solidFill>
              </a:rPr>
              <a:t> «</a:t>
            </a:r>
            <a:r>
              <a:rPr dirty="0" err="1">
                <a:solidFill>
                  <a:srgbClr val="FFFFFF"/>
                </a:solidFill>
              </a:rPr>
              <a:t>ты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накопил</a:t>
            </a:r>
            <a:r>
              <a:rPr dirty="0">
                <a:solidFill>
                  <a:srgbClr val="FFFFFF"/>
                </a:solidFill>
              </a:rPr>
              <a:t>», а «</a:t>
            </a:r>
            <a:r>
              <a:rPr dirty="0" err="1">
                <a:solidFill>
                  <a:srgbClr val="FFFFFF"/>
                </a:solidFill>
              </a:rPr>
              <a:t>накоплено</a:t>
            </a:r>
            <a:r>
              <a:rPr dirty="0">
                <a:solidFill>
                  <a:srgbClr val="FFFFFF"/>
                </a:solidFill>
              </a:rPr>
              <a:t>». </a:t>
            </a:r>
            <a:r>
              <a:rPr dirty="0" err="1">
                <a:solidFill>
                  <a:srgbClr val="FFFFFF"/>
                </a:solidFill>
              </a:rPr>
              <a:t>Самые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частые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обороты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ловит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автотест</a:t>
            </a:r>
            <a:r>
              <a:rPr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dirty="0" err="1">
                <a:solidFill>
                  <a:srgbClr val="C9B3FF"/>
                </a:solidFill>
              </a:rPr>
              <a:t>Ошибка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без</a:t>
            </a:r>
            <a:r>
              <a:rPr b="1" dirty="0">
                <a:solidFill>
                  <a:srgbClr val="C9B3FF"/>
                </a:solidFill>
              </a:rPr>
              <a:t> </a:t>
            </a:r>
            <a:r>
              <a:rPr b="1" dirty="0" err="1">
                <a:solidFill>
                  <a:srgbClr val="C9B3FF"/>
                </a:solidFill>
              </a:rPr>
              <a:t>наказания</a:t>
            </a:r>
            <a:r>
              <a:rPr b="1" dirty="0">
                <a:solidFill>
                  <a:srgbClr val="C9B3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 </a:t>
            </a:r>
            <a:r>
              <a:rPr dirty="0" err="1">
                <a:solidFill>
                  <a:srgbClr val="FFFFFF"/>
                </a:solidFill>
              </a:rPr>
              <a:t>Игра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объясняет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что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произошло</a:t>
            </a:r>
            <a:r>
              <a:rPr dirty="0">
                <a:solidFill>
                  <a:srgbClr val="FFFFFF"/>
                </a:solidFill>
              </a:rPr>
              <a:t>, и </a:t>
            </a:r>
            <a:r>
              <a:rPr dirty="0" err="1">
                <a:solidFill>
                  <a:srgbClr val="FFFFFF"/>
                </a:solidFill>
              </a:rPr>
              <a:t>подсказывает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следующий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шаг</a:t>
            </a:r>
            <a:r>
              <a:rPr dirty="0">
                <a:solidFill>
                  <a:srgbClr val="FFFFFF"/>
                </a:solidFill>
              </a:rPr>
              <a:t>.</a:t>
            </a:r>
          </a:p>
          <a:p>
            <a:pPr>
              <a:spcAft>
                <a:spcPts val="1200"/>
              </a:spcAft>
            </a:pPr>
            <a:r>
              <a:rPr b="1" dirty="0" err="1">
                <a:solidFill>
                  <a:srgbClr val="C9B3FF"/>
                </a:solidFill>
              </a:rPr>
              <a:t>Доступность</a:t>
            </a:r>
            <a:r>
              <a:rPr b="1" dirty="0">
                <a:solidFill>
                  <a:srgbClr val="C9B3FF"/>
                </a:solidFill>
              </a:rPr>
              <a:t>.</a:t>
            </a:r>
            <a:r>
              <a:rPr dirty="0">
                <a:solidFill>
                  <a:srgbClr val="FFFFFF"/>
                </a:solidFill>
              </a:rPr>
              <a:t>  </a:t>
            </a:r>
            <a:r>
              <a:rPr dirty="0" err="1">
                <a:solidFill>
                  <a:srgbClr val="FFFFFF"/>
                </a:solidFill>
              </a:rPr>
              <a:t>Крупный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текст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отключаемые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анимации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цель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нажатия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от</a:t>
            </a:r>
            <a:r>
              <a:rPr dirty="0">
                <a:solidFill>
                  <a:srgbClr val="FFFFFF"/>
                </a:solidFill>
              </a:rPr>
              <a:t> 48 </a:t>
            </a:r>
            <a:r>
              <a:rPr dirty="0" err="1">
                <a:solidFill>
                  <a:srgbClr val="FFFFFF"/>
                </a:solidFill>
              </a:rPr>
              <a:t>px</a:t>
            </a:r>
            <a:r>
              <a:rPr dirty="0">
                <a:solidFill>
                  <a:srgbClr val="FFFFFF"/>
                </a:solidFill>
              </a:rPr>
              <a:t>, </a:t>
            </a:r>
            <a:r>
              <a:rPr dirty="0" err="1">
                <a:solidFill>
                  <a:srgbClr val="FFFFFF"/>
                </a:solidFill>
              </a:rPr>
              <a:t>состояние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передаётся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не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только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цветом</a:t>
            </a:r>
            <a:r>
              <a:rPr dirty="0">
                <a:solidFill>
                  <a:srgbClr val="FFFFFF"/>
                </a:solidFill>
              </a:rPr>
              <a:t>.</a:t>
            </a:r>
          </a:p>
        </p:txBody>
      </p:sp>
      <p:pic>
        <p:nvPicPr>
          <p:cNvPr id="4" name="Picture 3" descr="splash.png"/>
          <p:cNvPicPr>
            <a:picLocks noChangeAspect="1"/>
          </p:cNvPicPr>
          <p:nvPr/>
        </p:nvPicPr>
        <p:blipFill>
          <a:blip r:embed="rId2"/>
          <a:srcRect l="238" r="-238" b="16227"/>
          <a:stretch>
            <a:fillRect/>
          </a:stretch>
        </p:blipFill>
        <p:spPr>
          <a:xfrm>
            <a:off x="7684468" y="955439"/>
            <a:ext cx="3726861" cy="55469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АРХИТЕКТУРА, СТЕК И ДАННЫЕ</a:t>
            </a:r>
          </a:p>
        </p:txBody>
      </p:sp>
      <p:pic>
        <p:nvPicPr>
          <p:cNvPr id="3" name="Picture 2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99" y="1440000"/>
            <a:ext cx="6480000" cy="369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88000" y="1224000"/>
            <a:ext cx="4248000" cy="42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Стек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React 18 и TypeScript, </a:t>
            </a:r>
            <a:r>
              <a:rPr sz="1400" dirty="0" err="1">
                <a:solidFill>
                  <a:srgbClr val="FFFFFF"/>
                </a:solidFill>
              </a:rPr>
              <a:t>сборка</a:t>
            </a:r>
            <a:r>
              <a:rPr sz="1400" dirty="0">
                <a:solidFill>
                  <a:srgbClr val="FFFFFF"/>
                </a:solidFill>
              </a:rPr>
              <a:t> Vite, </a:t>
            </a:r>
            <a:r>
              <a:rPr sz="1400" dirty="0" err="1">
                <a:solidFill>
                  <a:srgbClr val="FFFFFF"/>
                </a:solidFill>
              </a:rPr>
              <a:t>упаковка</a:t>
            </a:r>
            <a:r>
              <a:rPr sz="1400" dirty="0">
                <a:solidFill>
                  <a:srgbClr val="FFFFFF"/>
                </a:solidFill>
              </a:rPr>
              <a:t> в Android </a:t>
            </a:r>
            <a:r>
              <a:rPr sz="1400" dirty="0" err="1">
                <a:solidFill>
                  <a:srgbClr val="FFFFFF"/>
                </a:solidFill>
              </a:rPr>
              <a:t>через</a:t>
            </a:r>
            <a:r>
              <a:rPr sz="1400" dirty="0">
                <a:solidFill>
                  <a:srgbClr val="FFFFFF"/>
                </a:solidFill>
              </a:rPr>
              <a:t> Capacitor</a:t>
            </a:r>
          </a:p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Слои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Учебный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контент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отдельно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от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игровой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экономики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экономика</a:t>
            </a:r>
            <a:r>
              <a:rPr sz="1400" dirty="0">
                <a:solidFill>
                  <a:srgbClr val="FFFFFF"/>
                </a:solidFill>
              </a:rPr>
              <a:t> – </a:t>
            </a:r>
            <a:r>
              <a:rPr sz="1400" dirty="0" err="1">
                <a:solidFill>
                  <a:srgbClr val="FFFFFF"/>
                </a:solidFill>
              </a:rPr>
              <a:t>отдельно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от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интерфейса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Чистая</a:t>
            </a:r>
            <a:r>
              <a:rPr sz="1400" b="1" dirty="0">
                <a:solidFill>
                  <a:srgbClr val="C9B3FF"/>
                </a:solidFill>
              </a:rPr>
              <a:t> </a:t>
            </a:r>
            <a:r>
              <a:rPr sz="1400" b="1" dirty="0" err="1">
                <a:solidFill>
                  <a:srgbClr val="C9B3FF"/>
                </a:solidFill>
              </a:rPr>
              <a:t>экономика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Все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расчёты</a:t>
            </a:r>
            <a:r>
              <a:rPr sz="1400" dirty="0">
                <a:solidFill>
                  <a:srgbClr val="FFFFFF"/>
                </a:solidFill>
              </a:rPr>
              <a:t> – </a:t>
            </a:r>
            <a:r>
              <a:rPr sz="1400" dirty="0" err="1">
                <a:solidFill>
                  <a:srgbClr val="FFFFFF"/>
                </a:solidFill>
              </a:rPr>
              <a:t>чистые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функции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без</a:t>
            </a:r>
            <a:r>
              <a:rPr sz="1400" dirty="0">
                <a:solidFill>
                  <a:srgbClr val="FFFFFF"/>
                </a:solidFill>
              </a:rPr>
              <a:t> React и </a:t>
            </a:r>
            <a:r>
              <a:rPr sz="1400" dirty="0" err="1">
                <a:solidFill>
                  <a:srgbClr val="FFFFFF"/>
                </a:solidFill>
              </a:rPr>
              <a:t>хранилища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поэтому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их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проверяют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автотесты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Данные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Один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профиль</a:t>
            </a:r>
            <a:r>
              <a:rPr sz="1400" dirty="0">
                <a:solidFill>
                  <a:srgbClr val="FFFFFF"/>
                </a:solidFill>
              </a:rPr>
              <a:t> в </a:t>
            </a:r>
            <a:r>
              <a:rPr sz="1400" dirty="0" err="1">
                <a:solidFill>
                  <a:srgbClr val="FFFFFF"/>
                </a:solidFill>
              </a:rPr>
              <a:t>памяти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устройства</a:t>
            </a:r>
            <a:r>
              <a:rPr sz="1400" dirty="0">
                <a:solidFill>
                  <a:srgbClr val="FFFFFF"/>
                </a:solidFill>
              </a:rPr>
              <a:t>. </a:t>
            </a:r>
            <a:r>
              <a:rPr sz="1400" dirty="0" err="1">
                <a:solidFill>
                  <a:srgbClr val="FFFFFF"/>
                </a:solidFill>
              </a:rPr>
              <a:t>Сервера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нет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аккаунт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не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нужен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Обновление</a:t>
            </a:r>
            <a:r>
              <a:rPr sz="1400" b="1" dirty="0">
                <a:solidFill>
                  <a:srgbClr val="C9B3FF"/>
                </a:solidFill>
              </a:rPr>
              <a:t> </a:t>
            </a:r>
            <a:r>
              <a:rPr sz="1400" b="1" dirty="0" err="1">
                <a:solidFill>
                  <a:srgbClr val="C9B3FF"/>
                </a:solidFill>
              </a:rPr>
              <a:t>контента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Задания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товары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цели</a:t>
            </a:r>
            <a:r>
              <a:rPr sz="1400" dirty="0">
                <a:solidFill>
                  <a:srgbClr val="FFFFFF"/>
                </a:solidFill>
              </a:rPr>
              <a:t> и </a:t>
            </a:r>
            <a:r>
              <a:rPr sz="1400" dirty="0" err="1">
                <a:solidFill>
                  <a:srgbClr val="FFFFFF"/>
                </a:solidFill>
              </a:rPr>
              <a:t>события</a:t>
            </a:r>
            <a:r>
              <a:rPr sz="1400" dirty="0">
                <a:solidFill>
                  <a:srgbClr val="FFFFFF"/>
                </a:solidFill>
              </a:rPr>
              <a:t> – </a:t>
            </a:r>
            <a:r>
              <a:rPr sz="1400" dirty="0" err="1">
                <a:solidFill>
                  <a:srgbClr val="FFFFFF"/>
                </a:solidFill>
              </a:rPr>
              <a:t>данные</a:t>
            </a:r>
            <a:r>
              <a:rPr sz="1400" dirty="0">
                <a:solidFill>
                  <a:srgbClr val="FFFFFF"/>
                </a:solidFill>
              </a:rPr>
              <a:t> в </a:t>
            </a:r>
            <a:r>
              <a:rPr sz="1400" dirty="0" err="1">
                <a:solidFill>
                  <a:srgbClr val="FFFFFF"/>
                </a:solidFill>
              </a:rPr>
              <a:t>отдельных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файлах</a:t>
            </a:r>
            <a:r>
              <a:rPr sz="1400" dirty="0">
                <a:solidFill>
                  <a:srgbClr val="FFFFFF"/>
                </a:solidFill>
              </a:rPr>
              <a:t>: </a:t>
            </a:r>
            <a:r>
              <a:rPr sz="1400" dirty="0" err="1">
                <a:solidFill>
                  <a:srgbClr val="FFFFFF"/>
                </a:solidFill>
              </a:rPr>
              <a:t>новый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контент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добавляется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без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переделки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приложения</a:t>
            </a:r>
            <a:endParaRPr sz="1400" dirty="0">
              <a:solidFill>
                <a:srgbClr val="FFFFFF"/>
              </a:solidFill>
            </a:endParaRPr>
          </a:p>
          <a:p>
            <a:pPr>
              <a:spcAft>
                <a:spcPts val="1100"/>
              </a:spcAft>
            </a:pPr>
            <a:r>
              <a:rPr sz="1400" b="1" dirty="0" err="1">
                <a:solidFill>
                  <a:srgbClr val="C9B3FF"/>
                </a:solidFill>
              </a:rPr>
              <a:t>Разрешения</a:t>
            </a:r>
            <a:r>
              <a:rPr sz="1400" b="1" dirty="0">
                <a:solidFill>
                  <a:srgbClr val="C9B3FF"/>
                </a:solidFill>
              </a:rPr>
              <a:t>.</a:t>
            </a:r>
            <a:r>
              <a:rPr sz="1400" dirty="0">
                <a:solidFill>
                  <a:srgbClr val="FFFFFF"/>
                </a:solidFill>
              </a:rPr>
              <a:t>  </a:t>
            </a:r>
            <a:r>
              <a:rPr sz="1400" dirty="0" err="1">
                <a:solidFill>
                  <a:srgbClr val="FFFFFF"/>
                </a:solidFill>
              </a:rPr>
              <a:t>Ни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одного</a:t>
            </a:r>
            <a:r>
              <a:rPr sz="1400" dirty="0">
                <a:solidFill>
                  <a:srgbClr val="FFFFFF"/>
                </a:solidFill>
              </a:rPr>
              <a:t>: </a:t>
            </a:r>
            <a:r>
              <a:rPr sz="1400" dirty="0" err="1">
                <a:solidFill>
                  <a:srgbClr val="FFFFFF"/>
                </a:solidFill>
              </a:rPr>
              <a:t>ни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камеры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ни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памяти</a:t>
            </a:r>
            <a:r>
              <a:rPr sz="1400" dirty="0">
                <a:solidFill>
                  <a:srgbClr val="FFFFFF"/>
                </a:solidFill>
              </a:rPr>
              <a:t>, </a:t>
            </a:r>
            <a:r>
              <a:rPr sz="1400" dirty="0" err="1">
                <a:solidFill>
                  <a:srgbClr val="FFFFFF"/>
                </a:solidFill>
              </a:rPr>
              <a:t>ни</a:t>
            </a:r>
            <a:r>
              <a:rPr sz="1400" dirty="0">
                <a:solidFill>
                  <a:srgbClr val="FFFFFF"/>
                </a:solidFill>
              </a:rPr>
              <a:t> </a:t>
            </a:r>
            <a:r>
              <a:rPr sz="1400" dirty="0" err="1">
                <a:solidFill>
                  <a:srgbClr val="FFFFFF"/>
                </a:solidFill>
              </a:rPr>
              <a:t>геолокации</a:t>
            </a:r>
            <a:endParaRPr sz="1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ЧТО ПРОВЕРИЛИ И 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999" y="1152000"/>
            <a:ext cx="345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B3FF"/>
                </a:solidFill>
              </a:rPr>
              <a:t>154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2015999"/>
            <a:ext cx="34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автотеста на экономику,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задания и тексты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0" y="1152000"/>
            <a:ext cx="345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B3FF"/>
                </a:solidFill>
              </a:rPr>
              <a:t>2 круга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0" y="2015999"/>
            <a:ext cx="34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проверки с детьми: двое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дома и класс в школе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5999" y="1152000"/>
            <a:ext cx="345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B3FF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5999" y="2015999"/>
            <a:ext cx="345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разрешений Android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и собранных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316800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B3FF"/>
                </a:solidFill>
              </a:rPr>
              <a:t>Что показала проверка с детьми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3600000"/>
            <a:ext cx="558000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Слово «период» дети не понимали – заменили на «неделю» и добавили термин в финсловарь.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Цель держит внимание: дети подходили к учителю показать результат – «я все задания прошёл, вот палатка у меня есть».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Веб-версия удобнее APK для класса: открывается по ссылке сразу на нескольких устройствах.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3999" y="3168000"/>
            <a:ext cx="507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9B3FF"/>
                </a:solidFill>
              </a:rPr>
              <a:t>Ограничения и план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3999" y="3600000"/>
            <a:ext cx="507600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Контента хватает на пять-шесть недель игры – дальше нужен новый.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Прогресс живёт только на устройстве: переноса между телефонами нет.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</a:rPr>
              <a:t>•  Дальше: расширить проверку с детьми, два уровня сложности для 7–8 и 9–11 лет, реакции питомца и покупки, которые видно в комнате.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360000"/>
            <a:ext cx="64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ССЫЛКИ И СБОРКА</a:t>
            </a:r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000" y="1584000"/>
            <a:ext cx="2088000" cy="208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96000" y="3888000"/>
            <a:ext cx="35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Питомец Финни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96000" y="4392000"/>
            <a:ext cx="35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CFE4"/>
                </a:solidFill>
              </a:rPr>
              <a:t>версия 1.1, сборка 2</a:t>
            </a:r>
          </a:p>
          <a:p>
            <a:pPr algn="ctr"/>
            <a:r>
              <a:rPr sz="1200" b="0">
                <a:solidFill>
                  <a:srgbClr val="D6CFE4"/>
                </a:solidFill>
              </a:rPr>
              <a:t>пакет ru.finni.pet</a:t>
            </a:r>
          </a:p>
          <a:p>
            <a:pPr algn="ctr"/>
            <a:r>
              <a:rPr sz="1200" b="0">
                <a:solidFill>
                  <a:srgbClr val="D6CFE4"/>
                </a:solidFill>
              </a:rPr>
              <a:t>Android 5.1 и новее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B1CAE-7E88-75B5-A9D3-1D43C2C3A4A3}"/>
              </a:ext>
            </a:extLst>
          </p:cNvPr>
          <p:cNvSpPr txBox="1"/>
          <p:nvPr/>
        </p:nvSpPr>
        <p:spPr>
          <a:xfrm>
            <a:off x="735411" y="1565939"/>
            <a:ext cx="5665390" cy="526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lang="ru-RU" sz="1600" b="1" i="0" dirty="0">
                <a:solidFill>
                  <a:schemeClr val="bg1"/>
                </a:solidFill>
                <a:latin typeface="Nunito Black" pitchFamily="2" charset="-52"/>
              </a:rPr>
              <a:t>Репозиторий</a:t>
            </a:r>
            <a:r>
              <a:rPr sz="1600" b="1" i="0" dirty="0">
                <a:solidFill>
                  <a:schemeClr val="bg1"/>
                </a:solidFill>
                <a:latin typeface="Nunito Black" pitchFamily="2" charset="-52"/>
              </a:rPr>
              <a:t>: </a:t>
            </a:r>
            <a:endParaRPr lang="ru-RU" sz="1600" b="1" i="0" dirty="0">
              <a:solidFill>
                <a:schemeClr val="bg1"/>
              </a:solidFill>
              <a:latin typeface="Nunito Black" pitchFamily="2" charset="-52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solidFill>
                  <a:schemeClr val="bg1"/>
                </a:solidFill>
                <a:latin typeface="Nunito Sans SemiBold" pitchFamily="2" charset="-52"/>
              </a:rPr>
              <a:t>https://github.com/AnnaKotlova111/CtrlAltWin_Finni</a:t>
            </a:r>
            <a:endParaRPr sz="1600" dirty="0">
              <a:solidFill>
                <a:schemeClr val="bg1"/>
              </a:solidFill>
              <a:latin typeface="Nunito Sans SemiBold" pitchFamily="2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3ECF0-EB3B-C45D-810A-8700D71E256D}"/>
              </a:ext>
            </a:extLst>
          </p:cNvPr>
          <p:cNvSpPr txBox="1"/>
          <p:nvPr/>
        </p:nvSpPr>
        <p:spPr>
          <a:xfrm>
            <a:off x="735410" y="2382096"/>
            <a:ext cx="5939709" cy="7928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lang="ru-RU" sz="1600" b="1" i="0" dirty="0">
                <a:solidFill>
                  <a:schemeClr val="bg1"/>
                </a:solidFill>
                <a:latin typeface="Nunito Black" pitchFamily="2" charset="-52"/>
              </a:rPr>
              <a:t>Сборка</a:t>
            </a:r>
            <a:r>
              <a:rPr sz="1600" b="1" i="0" dirty="0">
                <a:solidFill>
                  <a:schemeClr val="bg1"/>
                </a:solidFill>
                <a:latin typeface="Nunito Black" pitchFamily="2" charset="-52"/>
              </a:rPr>
              <a:t>: </a:t>
            </a:r>
            <a:endParaRPr lang="ru-RU" sz="1600" b="1" i="0" dirty="0">
              <a:solidFill>
                <a:schemeClr val="bg1"/>
              </a:solidFill>
              <a:latin typeface="Nunito Black" pitchFamily="2" charset="-52"/>
            </a:endParaRPr>
          </a:p>
          <a:p>
            <a:pPr>
              <a:lnSpc>
                <a:spcPct val="108000"/>
              </a:lnSpc>
            </a:pPr>
            <a:r>
              <a:rPr lang="ru-RU" sz="1600" dirty="0">
                <a:solidFill>
                  <a:schemeClr val="bg1"/>
                </a:solidFill>
                <a:latin typeface="Nunito Sans SemiBold" pitchFamily="2" charset="-52"/>
              </a:rPr>
              <a:t>https://github.com/AnnaKotlova111/CtrlAltWin_Finni/releases</a:t>
            </a:r>
          </a:p>
          <a:p>
            <a:pPr>
              <a:lnSpc>
                <a:spcPct val="108000"/>
              </a:lnSpc>
            </a:pPr>
            <a:endParaRPr sz="1600" dirty="0">
              <a:solidFill>
                <a:schemeClr val="bg1"/>
              </a:solidFill>
              <a:latin typeface="Nunito Sans SemiBold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1741C-1468-520B-72AA-5225C911C4B1}"/>
              </a:ext>
            </a:extLst>
          </p:cNvPr>
          <p:cNvSpPr txBox="1"/>
          <p:nvPr/>
        </p:nvSpPr>
        <p:spPr>
          <a:xfrm>
            <a:off x="735410" y="3209910"/>
            <a:ext cx="6569629" cy="7928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lang="ru-RU" sz="1600" b="1" dirty="0">
                <a:solidFill>
                  <a:schemeClr val="bg1"/>
                </a:solidFill>
                <a:latin typeface="Nunito Black" pitchFamily="2" charset="-52"/>
              </a:rPr>
              <a:t>Документация</a:t>
            </a:r>
            <a:r>
              <a:rPr sz="1600" b="1" i="0" dirty="0">
                <a:solidFill>
                  <a:schemeClr val="bg1"/>
                </a:solidFill>
                <a:latin typeface="Nunito Black" pitchFamily="2" charset="-52"/>
              </a:rPr>
              <a:t>: </a:t>
            </a:r>
            <a:r>
              <a:rPr lang="en-US" sz="1600" dirty="0">
                <a:solidFill>
                  <a:schemeClr val="bg1"/>
                </a:solidFill>
                <a:latin typeface="Nunito Sans SemiBold" pitchFamily="2" charset="-52"/>
              </a:rPr>
              <a:t>https://github.com/AnnaKotlova111/CtrlAltWin_Finni/tree/main/docs</a:t>
            </a:r>
            <a:endParaRPr lang="ru-RU" sz="1600" dirty="0">
              <a:solidFill>
                <a:schemeClr val="bg1"/>
              </a:solidFill>
              <a:latin typeface="Nunito Sans SemiBold" pitchFamily="2" charset="-52"/>
            </a:endParaRPr>
          </a:p>
          <a:p>
            <a:pPr>
              <a:lnSpc>
                <a:spcPct val="108000"/>
              </a:lnSpc>
            </a:pPr>
            <a:endParaRPr sz="1600" dirty="0">
              <a:solidFill>
                <a:schemeClr val="bg1"/>
              </a:solidFill>
              <a:latin typeface="Nunito Sans SemiBold" pitchFamily="2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CC5408-BF0C-40F8-BF6B-3470113B2F43}"/>
              </a:ext>
            </a:extLst>
          </p:cNvPr>
          <p:cNvSpPr txBox="1"/>
          <p:nvPr/>
        </p:nvSpPr>
        <p:spPr>
          <a:xfrm>
            <a:off x="735411" y="4012771"/>
            <a:ext cx="6336598" cy="7928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lang="ru-RU" sz="1600" b="1" dirty="0">
                <a:solidFill>
                  <a:schemeClr val="bg1"/>
                </a:solidFill>
                <a:latin typeface="Nunito Black" pitchFamily="2" charset="-52"/>
              </a:rPr>
              <a:t>Материалы для </a:t>
            </a:r>
            <a:r>
              <a:rPr lang="en-US" sz="1600" b="1" dirty="0" err="1">
                <a:solidFill>
                  <a:schemeClr val="bg1"/>
                </a:solidFill>
                <a:latin typeface="Nunito Black" pitchFamily="2" charset="-52"/>
              </a:rPr>
              <a:t>RuStore</a:t>
            </a:r>
            <a:r>
              <a:rPr sz="1600" b="1" i="0" dirty="0">
                <a:solidFill>
                  <a:schemeClr val="bg1"/>
                </a:solidFill>
                <a:latin typeface="Nunito Black" pitchFamily="2" charset="-52"/>
              </a:rPr>
              <a:t>: </a:t>
            </a:r>
            <a:endParaRPr lang="ru-RU" sz="1600" b="1" i="0" dirty="0">
              <a:solidFill>
                <a:schemeClr val="bg1"/>
              </a:solidFill>
              <a:latin typeface="Nunito Black" pitchFamily="2" charset="-52"/>
            </a:endParaRPr>
          </a:p>
          <a:p>
            <a:pPr>
              <a:lnSpc>
                <a:spcPct val="108000"/>
              </a:lnSpc>
            </a:pPr>
            <a:r>
              <a:rPr lang="en-US" sz="1600" dirty="0">
                <a:solidFill>
                  <a:schemeClr val="bg1"/>
                </a:solidFill>
                <a:latin typeface="Nunito Sans SemiBold" pitchFamily="2" charset="-52"/>
              </a:rPr>
              <a:t>https://cloud.mail.ru/public/phRh/tfT223Xg7</a:t>
            </a:r>
            <a:endParaRPr lang="ru-RU" sz="1600" dirty="0">
              <a:solidFill>
                <a:schemeClr val="bg1"/>
              </a:solidFill>
              <a:latin typeface="Nunito Sans SemiBold" pitchFamily="2" charset="-52"/>
            </a:endParaRPr>
          </a:p>
          <a:p>
            <a:pPr>
              <a:lnSpc>
                <a:spcPct val="108000"/>
              </a:lnSpc>
            </a:pPr>
            <a:endParaRPr sz="1600" dirty="0">
              <a:solidFill>
                <a:schemeClr val="bg1"/>
              </a:solidFill>
              <a:latin typeface="Nunito Sans SemiBold" pitchFamily="2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2E23C4-68DE-C205-4A9C-3BA5A391C254}"/>
              </a:ext>
            </a:extLst>
          </p:cNvPr>
          <p:cNvSpPr txBox="1"/>
          <p:nvPr/>
        </p:nvSpPr>
        <p:spPr>
          <a:xfrm>
            <a:off x="735411" y="4815631"/>
            <a:ext cx="6336598" cy="5269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8000"/>
              </a:lnSpc>
            </a:pPr>
            <a:r>
              <a:rPr lang="ru-RU" sz="1600" b="1" dirty="0">
                <a:solidFill>
                  <a:schemeClr val="bg1"/>
                </a:solidFill>
                <a:latin typeface="Nunito Black" pitchFamily="2" charset="-52"/>
              </a:rPr>
              <a:t>Веб-версия</a:t>
            </a:r>
            <a:r>
              <a:rPr sz="1600" b="1" dirty="0">
                <a:solidFill>
                  <a:schemeClr val="bg1"/>
                </a:solidFill>
                <a:latin typeface="Nunito Black" pitchFamily="2" charset="-52"/>
              </a:rPr>
              <a:t>: </a:t>
            </a:r>
            <a:endParaRPr lang="ru-RU" sz="1600" b="1" dirty="0">
              <a:solidFill>
                <a:schemeClr val="bg1"/>
              </a:solidFill>
              <a:latin typeface="Nunito Black" pitchFamily="2" charset="-52"/>
            </a:endParaRPr>
          </a:p>
          <a:p>
            <a:pPr>
              <a:lnSpc>
                <a:spcPct val="108000"/>
              </a:lnSpc>
            </a:pPr>
            <a:r>
              <a:rPr lang="ru-RU" sz="1600" dirty="0">
                <a:solidFill>
                  <a:schemeClr val="bg1"/>
                </a:solidFill>
                <a:latin typeface="Nunito Sans SemiBold" pitchFamily="2" charset="-52"/>
              </a:rPr>
              <a:t>https://demoversctrlaltwin.ru/</a:t>
            </a:r>
            <a:endParaRPr sz="1600" dirty="0">
              <a:solidFill>
                <a:schemeClr val="bg1"/>
              </a:solidFill>
              <a:latin typeface="Nunito Sans SemiBold" pitchFamily="2" charset="-5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11558</TotalTime>
  <Words>1801</Words>
  <Application>Microsoft Office PowerPoint</Application>
  <PresentationFormat>Широкоэкранный</PresentationFormat>
  <Paragraphs>166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Montserrat</vt:lpstr>
      <vt:lpstr>Nunito Black</vt:lpstr>
      <vt:lpstr>Nunito Sans SemiBold</vt:lpstr>
      <vt:lpstr>Wingdings</vt:lpstr>
      <vt:lpstr>Для Академия инноваторов 16_9</vt:lpstr>
      <vt:lpstr>CTRL + ALT + WIN</vt:lpstr>
      <vt:lpstr>КОМАНДА  «CTRL + ALT+ WIN»</vt:lpstr>
      <vt:lpstr>КОМАНДА «CTRL + ALT + WIN»</vt:lpstr>
      <vt:lpstr>КОМАНДА «CTRL + ALT + WIN»</vt:lpstr>
      <vt:lpstr>КОРОТКО О РЕШЕНИИ</vt:lpstr>
      <vt:lpstr>ПРОБЛЕМА И ДЛЯ КОГО МЫ ЕЁ РЕШАЕМ</vt:lpstr>
      <vt:lpstr>ЧЕМУ УЧИТ ИГРА</vt:lpstr>
      <vt:lpstr>Презентация PowerPoint</vt:lpstr>
      <vt:lpstr>Презентация PowerPoint</vt:lpstr>
      <vt:lpstr>ЧТО РЕАЛИЗОВАНО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a4080</cp:lastModifiedBy>
  <cp:revision>122</cp:revision>
  <dcterms:created xsi:type="dcterms:W3CDTF">2023-05-15T07:36:23Z</dcterms:created>
  <dcterms:modified xsi:type="dcterms:W3CDTF">2026-10-20T07:55:41Z</dcterms:modified>
</cp:coreProperties>
</file>