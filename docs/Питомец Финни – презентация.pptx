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76" r:id="rId2"/>
    <p:sldId id="366" r:id="rId3"/>
    <p:sldId id="362" r:id="rId4"/>
    <p:sldId id="364" r:id="rId5"/>
    <p:sldId id="375" r:id="rId6"/>
    <p:sldId id="377" r:id="rId7"/>
    <p:sldId id="378" r:id="rId8"/>
    <p:sldId id="379" r:id="rId9"/>
    <p:sldId id="380" r:id="rId10"/>
    <p:sldId id="265" r:id="rId11"/>
    <p:sldId id="382" r:id="rId12"/>
    <p:sldId id="383" r:id="rId13"/>
    <p:sldId id="384" r:id="rId14"/>
    <p:sldId id="385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05" autoAdjust="0"/>
    <p:restoredTop sz="95839"/>
  </p:normalViewPr>
  <p:slideViewPr>
    <p:cSldViewPr snapToGrid="0" showGuides="1">
      <p:cViewPr varScale="1">
        <p:scale>
          <a:sx n="79" d="100"/>
          <a:sy n="79" d="100"/>
        </p:scale>
        <p:origin x="782" y="77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20.10.2026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20.10.2026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20.10.2026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20.10.2026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20.10.2026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20.10.2026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en-US" sz="4800" dirty="0"/>
              <a:t>CTRL + ALT + WIN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 dirty="0"/>
              <a:t>Задача 6. Мобильное приложение по повышению финансовой грамотности детей и молодежи Москвы</a:t>
            </a:r>
          </a:p>
          <a:p>
            <a:pPr indent="268288"/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Image 3" descr=" ">
            <a:extLst>
              <a:ext uri="{FF2B5EF4-FFF2-40B4-BE49-F238E27FC236}">
                <a16:creationId xmlns:a16="http://schemas.microsoft.com/office/drawing/2014/main" id="{2957EF01-5828-FA13-64EC-5A290DB35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369" y="370325"/>
            <a:ext cx="2717859" cy="118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806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CCC4C63-7A79-991B-0171-09A8C217B01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4" t="13124" r="184" b="25504"/>
          <a:stretch>
            <a:fillRect/>
          </a:stretch>
        </p:blipFill>
        <p:spPr>
          <a:xfrm>
            <a:off x="0" y="334963"/>
            <a:ext cx="6456363" cy="2971800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7" y="4876070"/>
            <a:ext cx="4945564" cy="148028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300" dirty="0">
                <a:solidFill>
                  <a:schemeClr val="tx1"/>
                </a:solidFill>
              </a:rPr>
              <a:t>Питомец спорит с ребенком. У каждого свой характер: один тянет всё в копилку, другой бежит за «скидкой», третий просит красивую шапочку. Рядом с репликой – спокойная подсказка. Ребёнок выбирает сам, а не нажимает единственную правильную кнопку</a:t>
            </a:r>
          </a:p>
          <a:p>
            <a:r>
              <a:rPr lang="ru-RU" sz="1300" dirty="0">
                <a:solidFill>
                  <a:schemeClr val="tx1"/>
                </a:solidFill>
              </a:rPr>
              <a:t>Ошибка приносит объяснение, а не штраф. Неудачный ответ в задании всё равно даёт награду и разбор: что произошло и как иначе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Котлова Анна Вячеславовна, Прикладная информатика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>
              <a:spcBef>
                <a:spcPts val="0"/>
              </a:spcBef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</a:t>
            </a:r>
            <a:r>
              <a:rPr lang="ru-RU" dirty="0"/>
              <a:t> </a:t>
            </a:r>
            <a:r>
              <a:rPr lang="ru-RU" i="1" dirty="0">
                <a:solidFill>
                  <a:schemeClr val="tx1"/>
                </a:solidFill>
              </a:rPr>
              <a:t>Мы учились в одной школе, а потом вместе поступили в вуз на одно направление. Так школьная дружба превратилась в команду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учебы: Ивановский государственный университет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Иваново, Ивановская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>
                <a:solidFill>
                  <a:schemeClr val="accent5"/>
                </a:solidFill>
                <a:latin typeface="+mn-lt"/>
              </a:rPr>
              <a:t>КОМАНДА </a:t>
            </a:r>
            <a:br>
              <a:rPr lang="ru-RU" sz="2400" dirty="0">
                <a:solidFill>
                  <a:schemeClr val="accent5"/>
                </a:solidFill>
                <a:latin typeface="+mn-lt"/>
              </a:rPr>
            </a:br>
            <a:r>
              <a:rPr lang="ru-RU" sz="2400" dirty="0">
                <a:solidFill>
                  <a:schemeClr val="accent5"/>
                </a:solidFill>
                <a:latin typeface="+mn-lt"/>
              </a:rPr>
              <a:t>«</a:t>
            </a:r>
            <a:r>
              <a:rPr lang="en-US" sz="2400" dirty="0">
                <a:solidFill>
                  <a:schemeClr val="accent5"/>
                </a:solidFill>
                <a:latin typeface="+mn-lt"/>
              </a:rPr>
              <a:t>CTRL + ALT+ WIN</a:t>
            </a:r>
            <a:r>
              <a:rPr lang="ru-RU" sz="2400" dirty="0">
                <a:solidFill>
                  <a:schemeClr val="accent5"/>
                </a:solidFill>
                <a:latin typeface="+mn-lt"/>
              </a:rPr>
              <a:t>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D77B0D86-8D85-CBD5-15B3-0C7CD1C149D3}"/>
              </a:ext>
            </a:extLst>
          </p:cNvPr>
          <p:cNvSpPr txBox="1">
            <a:spLocks/>
          </p:cNvSpPr>
          <p:nvPr/>
        </p:nvSpPr>
        <p:spPr>
          <a:xfrm>
            <a:off x="6791325" y="2611470"/>
            <a:ext cx="4945565" cy="181797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Карманные деньги у ребёнка появляются раньше, чем умение ими распоряжаться. «Питомец Финни» даёт это умение прожить, а не выучить. У ребёнка есть питомец и </a:t>
            </a:r>
            <a:r>
              <a:rPr lang="ru-RU" dirty="0" err="1">
                <a:solidFill>
                  <a:schemeClr val="tx1"/>
                </a:solidFill>
              </a:rPr>
              <a:t>финкоины</a:t>
            </a:r>
            <a:r>
              <a:rPr lang="ru-RU" dirty="0">
                <a:solidFill>
                  <a:schemeClr val="tx1"/>
                </a:solidFill>
              </a:rPr>
              <a:t>. Каждый игровой период  три решения: что купить обязательно, желательно, а сколько отложить на мечту. Всё как у взрослых, только вместо квартплаты – миска каши, а вместо отпуска – мечта о самокате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2895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4618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err="1">
                <a:solidFill>
                  <a:schemeClr val="tx1"/>
                </a:solidFill>
              </a:rPr>
              <a:t>Frontend-developer</a:t>
            </a:r>
            <a:r>
              <a:rPr lang="ru-RU" sz="1200" dirty="0">
                <a:solidFill>
                  <a:schemeClr val="tx1"/>
                </a:solidFill>
              </a:rPr>
              <a:t>, </a:t>
            </a:r>
            <a:r>
              <a:rPr lang="ru-RU" sz="1200" dirty="0" err="1">
                <a:solidFill>
                  <a:schemeClr val="tx1"/>
                </a:solidFill>
              </a:rPr>
              <a:t>project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r>
              <a:rPr lang="ru-RU" sz="1200" dirty="0" err="1">
                <a:solidFill>
                  <a:schemeClr val="tx1"/>
                </a:solidFill>
              </a:rPr>
              <a:t>manager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@kawiiimo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89303594060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Ивановский государственный университет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4618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Мария Иванова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97254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D22C74E-991A-1BA7-1FC4-DAFC8EAE436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2" t="1637" r="-2622" b="27490"/>
          <a:stretch>
            <a:fillRect/>
          </a:stretch>
        </p:blipFill>
        <p:spPr>
          <a:xfrm>
            <a:off x="3230788" y="1826554"/>
            <a:ext cx="1722437" cy="155257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273690-3677-19D6-AE7A-A0B3A4AC0F29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212" t="2215" r="-2205" b="25085"/>
          <a:stretch>
            <a:fillRect/>
          </a:stretch>
        </p:blipFill>
        <p:spPr>
          <a:xfrm>
            <a:off x="6524625" y="1827213"/>
            <a:ext cx="1722438" cy="1541462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46952"/>
            <a:ext cx="9862734" cy="376138"/>
          </a:xfrm>
        </p:spPr>
        <p:txBody>
          <a:bodyPr/>
          <a:lstStyle/>
          <a:p>
            <a:r>
              <a:rPr lang="ru-RU" sz="1800" dirty="0"/>
              <a:t>КОМАНДА «CTRL + ALT + WIN»</a:t>
            </a:r>
            <a:endParaRPr lang="ru-RU" sz="1800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144830" y="4250028"/>
            <a:ext cx="1894354" cy="1624612"/>
          </a:xfrm>
        </p:spPr>
        <p:txBody>
          <a:bodyPr>
            <a:normAutofit/>
          </a:bodyPr>
          <a:lstStyle/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err="1">
                <a:solidFill>
                  <a:schemeClr val="tx1"/>
                </a:solidFill>
              </a:rPr>
              <a:t>Backend-developer</a:t>
            </a:r>
            <a:r>
              <a:rPr lang="ru-RU" sz="1200" dirty="0">
                <a:solidFill>
                  <a:schemeClr val="tx1"/>
                </a:solidFill>
              </a:rPr>
              <a:t>, UX/UI-</a:t>
            </a:r>
            <a:r>
              <a:rPr lang="ru-RU" sz="1200" dirty="0" err="1">
                <a:solidFill>
                  <a:schemeClr val="tx1"/>
                </a:solidFill>
              </a:rPr>
              <a:t>designer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@kotlovchik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89158371112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Ивановский государственный университет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14482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Анна   Котлова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41290"/>
            <a:ext cx="9862734" cy="376138"/>
          </a:xfrm>
        </p:spPr>
        <p:txBody>
          <a:bodyPr/>
          <a:lstStyle/>
          <a:p>
            <a:r>
              <a:rPr lang="ru-RU" sz="1800" dirty="0">
                <a:latin typeface="+mn-lt"/>
              </a:rPr>
              <a:t>КОМАНДА </a:t>
            </a:r>
            <a:r>
              <a:rPr lang="ru-RU" sz="1800" dirty="0"/>
              <a:t>«CTRL + ALT + WIN»</a:t>
            </a:r>
            <a:endParaRPr lang="ru-RU" sz="1800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6" y="1602273"/>
            <a:ext cx="9544248" cy="934263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Вместе участвовали в кейс-чемпионате – делали продукт для банка. Оттуда и привычка начинать с вопроса «а кому это на самом деле нужно»</a:t>
            </a:r>
          </a:p>
          <a:p>
            <a:r>
              <a:rPr lang="ru-RU" dirty="0">
                <a:solidFill>
                  <a:schemeClr val="tx1"/>
                </a:solidFill>
              </a:rPr>
              <a:t>Любим путешествовать вместе. Сплавляться по Катуни побоялись, зато помочили в ней ноги под дождём. Фотография в розовых дождевиках как раз оттуда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127908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Главная сложность – не дать игре превратиться в трекер расходов с картинкой. Таблица «потратил –  осталось» ребёнка не учит, он просто заполняет клетки. Нам нужно было, чтобы за каждым числом стояло последствие, и чтобы это последствие было видно глазами, а не прочитано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Вторая сложность – говорить на языке семилетнего. Первые версии были слишком взрослыми: длинные формулировки, сложная арифметика в заданиях, интонация учителя. Всё переписали: числа стали круглыми, фразы короткими, а игра перестала поучать и начала объяснять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1"/>
            <a:ext cx="9544248" cy="10553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ru-RU" sz="2000" dirty="0">
                <a:solidFill>
                  <a:schemeClr val="tx1"/>
                </a:solidFill>
              </a:rPr>
              <a:t>Мы любим геймдев, и нам было интересно проверить, может ли игра учить по-настоящему, а не просто развлекать с образовательной подписью на коробке. А ещё хотелось сделать что-то полезное для детей. Взрослым приложений про финансы – очень много, ребёнку в начальной школе — почти ничего, и это несправедливо: решения он принимает уже сейчас</a:t>
            </a:r>
          </a:p>
          <a:p>
            <a:pPr marL="0" indent="0">
              <a:lnSpc>
                <a:spcPct val="100000"/>
              </a:lnSpc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5048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 err="1">
                <a:solidFill>
                  <a:schemeClr val="tx1"/>
                </a:solidFill>
              </a:rPr>
              <a:t>React</a:t>
            </a:r>
            <a:r>
              <a:rPr lang="ru-RU" sz="1400" dirty="0">
                <a:solidFill>
                  <a:schemeClr val="tx1"/>
                </a:solidFill>
              </a:rPr>
              <a:t> 18 и </a:t>
            </a:r>
            <a:r>
              <a:rPr lang="ru-RU" sz="1400" dirty="0" err="1">
                <a:solidFill>
                  <a:schemeClr val="tx1"/>
                </a:solidFill>
              </a:rPr>
              <a:t>TypeScript</a:t>
            </a:r>
            <a:r>
              <a:rPr lang="ru-RU" sz="1400" dirty="0">
                <a:solidFill>
                  <a:schemeClr val="tx1"/>
                </a:solidFill>
              </a:rPr>
              <a:t>, сборка </a:t>
            </a:r>
            <a:r>
              <a:rPr lang="ru-RU" sz="1400" dirty="0" err="1">
                <a:solidFill>
                  <a:schemeClr val="tx1"/>
                </a:solidFill>
              </a:rPr>
              <a:t>Vite</a:t>
            </a:r>
            <a:r>
              <a:rPr lang="ru-RU" sz="1400" dirty="0">
                <a:solidFill>
                  <a:schemeClr val="tx1"/>
                </a:solidFill>
              </a:rPr>
              <a:t>, упаковка в </a:t>
            </a:r>
            <a:r>
              <a:rPr lang="ru-RU" sz="1400" dirty="0" err="1">
                <a:solidFill>
                  <a:schemeClr val="tx1"/>
                </a:solidFill>
              </a:rPr>
              <a:t>Android</a:t>
            </a:r>
            <a:r>
              <a:rPr lang="ru-RU" sz="1400" dirty="0">
                <a:solidFill>
                  <a:schemeClr val="tx1"/>
                </a:solidFill>
              </a:rPr>
              <a:t>-приложение через </a:t>
            </a:r>
            <a:r>
              <a:rPr lang="ru-RU" sz="1400" dirty="0" err="1">
                <a:solidFill>
                  <a:schemeClr val="tx1"/>
                </a:solidFill>
              </a:rPr>
              <a:t>Capacitor</a:t>
            </a:r>
            <a:r>
              <a:rPr lang="ru-RU" sz="1400" dirty="0">
                <a:solidFill>
                  <a:schemeClr val="tx1"/>
                </a:solidFill>
              </a:rPr>
              <a:t>. Данные хранятся на устройстве, сервер не нужен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Код разделён на слои: учебный контент лежит отдельно от игровой экономики, а экономика –  отдельно от интерфейса. Новое задание добавляется правкой одного файла, без изменений в логике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Расчёты бюджета, покупок, копилки и роста питомца закрыты 116 автоматическими тестами. Отдельные тесты следят за языком: чтобы тексты оставались нейтральными и понятными ребёнку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Приложение не запрашивает ни одного разрешения </a:t>
            </a:r>
            <a:r>
              <a:rPr lang="ru-RU" sz="1400" dirty="0" err="1">
                <a:solidFill>
                  <a:schemeClr val="tx1"/>
                </a:solidFill>
              </a:rPr>
              <a:t>Android</a:t>
            </a:r>
            <a:r>
              <a:rPr lang="ru-RU" sz="1400" dirty="0">
                <a:solidFill>
                  <a:schemeClr val="tx1"/>
                </a:solidFill>
              </a:rPr>
              <a:t> и не выходит в сеть. Работает на телефонах от </a:t>
            </a:r>
            <a:r>
              <a:rPr lang="ru-RU" sz="1400" dirty="0" err="1">
                <a:solidFill>
                  <a:schemeClr val="tx1"/>
                </a:solidFill>
              </a:rPr>
              <a:t>Android</a:t>
            </a:r>
            <a:r>
              <a:rPr lang="ru-RU" sz="1400" dirty="0">
                <a:solidFill>
                  <a:schemeClr val="tx1"/>
                </a:solidFill>
              </a:rPr>
              <a:t> 5.1 и на планшетах</a:t>
            </a:r>
          </a:p>
          <a:p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87292" y="1841710"/>
            <a:ext cx="4957144" cy="4435430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r>
              <a:rPr lang="ru-RU" sz="1500" b="1" dirty="0">
                <a:solidFill>
                  <a:schemeClr val="tx1"/>
                </a:solidFill>
              </a:rPr>
              <a:t>От игры к полноценному инструменту финансового образования детей</a:t>
            </a:r>
          </a:p>
          <a:p>
            <a:r>
              <a:rPr lang="ru-RU" sz="1600" dirty="0">
                <a:solidFill>
                  <a:schemeClr val="tx1"/>
                </a:solidFill>
              </a:rPr>
              <a:t>Развитие продукта – добавить два уровня сложности для детей 7–8 и 9–11 лет, новые задания и события, визуальные реакции питомца и интерактивную комнату</a:t>
            </a:r>
          </a:p>
          <a:p>
            <a:r>
              <a:rPr lang="ru-RU" sz="1600" dirty="0">
                <a:solidFill>
                  <a:schemeClr val="tx1"/>
                </a:solidFill>
              </a:rPr>
              <a:t>Семейное применение – расширить раздел для родителей: настройка размера карманных денег, несколько детских профилей, резервное копирование и отчёт о прогрессе</a:t>
            </a:r>
          </a:p>
          <a:p>
            <a:r>
              <a:rPr lang="ru-RU" sz="1600" dirty="0">
                <a:solidFill>
                  <a:schemeClr val="tx1"/>
                </a:solidFill>
              </a:rPr>
              <a:t>Образовательное применение – использовать игру как дополнительный инструмент для занятий по финансовой грамотности в школе и совместной работы ребёнка с взрослым. В текущей версии уже заложены задания, </a:t>
            </a:r>
            <a:r>
              <a:rPr lang="ru-RU" sz="1600" dirty="0" err="1">
                <a:solidFill>
                  <a:schemeClr val="tx1"/>
                </a:solidFill>
              </a:rPr>
              <a:t>финсловарь</a:t>
            </a:r>
            <a:r>
              <a:rPr lang="ru-RU" sz="1600" dirty="0">
                <a:solidFill>
                  <a:schemeClr val="tx1"/>
                </a:solidFill>
              </a:rPr>
              <a:t> и соответствие компетенциям финансовой грамотности 7–11 лет </a:t>
            </a:r>
          </a:p>
          <a:p>
            <a:r>
              <a:rPr lang="ru-RU" sz="1600" dirty="0">
                <a:solidFill>
                  <a:schemeClr val="tx1"/>
                </a:solidFill>
              </a:rPr>
              <a:t>Масштабирование – расширять тематику от бюджета и накоплений к предпринимательству, займам, страхованию и другим финансовым сценариям; техническая архитектура позволяет добавлять новый контент без изменения игровой логики</a:t>
            </a:r>
          </a:p>
          <a:p>
            <a:endParaRPr lang="ru-RU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4"/>
            <a:ext cx="5214724" cy="36512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ПРОБЛЕМА И ДЛЯ КОГО МЫ ЕЁ РЕШАЕМ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6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Карманные деньги, подарки, участие в семейных покупках – всё это у ребёнка уже есть.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А навыка нет: решение принято сегодня, последствие видно через месяц, связь теряется.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На настоящих деньгах ошибаться дорого, но без ошибок навык не появляется.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Книжки и уроки объясняют словами: в 7–11 лет это быстро надоедает.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Детские банковские карты дают инструмент, но не учат выбирать.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Квизы и тесты проверяют память, а не решение.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2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Игра, где решение принимает ребёнок, а последствие видно сразу – по состоянию питомца.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Ошибка не наказывает, а объясняется: достигнутое никогда не отнимается.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</a:rPr>
              <a:t>Взрослый получает не отчёт, а поводы для разговора.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3"/>
          </p:nvPr>
        </p:nvSpPr>
        <p:spPr/>
        <p:txBody>
          <a:bodyPr wrap="square"/>
          <a:lstStyle/>
          <a:p>
            <a:r>
              <a:rPr sz="1500" b="1">
                <a:solidFill>
                  <a:srgbClr val="C9B3FF"/>
                </a:solidFill>
              </a:rPr>
              <a:t>Проблема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4"/>
          </p:nvPr>
        </p:nvSpPr>
        <p:spPr/>
        <p:txBody>
          <a:bodyPr wrap="square"/>
          <a:lstStyle/>
          <a:p>
            <a:r>
              <a:rPr sz="1500" b="1">
                <a:solidFill>
                  <a:srgbClr val="C9B3FF"/>
                </a:solidFill>
              </a:rPr>
              <a:t>Как учат сейчас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5"/>
          </p:nvPr>
        </p:nvSpPr>
        <p:spPr/>
        <p:txBody>
          <a:bodyPr wrap="square"/>
          <a:lstStyle/>
          <a:p>
            <a:r>
              <a:rPr sz="1500" b="1">
                <a:solidFill>
                  <a:srgbClr val="C9B3FF"/>
                </a:solidFill>
              </a:rPr>
              <a:t>Наше 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1152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Дети 7–11 лет, которые читают короткие фразы и считают в пределах сотен. И взрослый рядом – родитель или учитель: он видит прогресс, но не решает за ребёнка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2015999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B3FF"/>
                </a:solidFill>
              </a:rPr>
              <a:t>Ребёнок принимает решение сам – и сразу видит, к чему оно привело</a:t>
            </a:r>
          </a:p>
        </p:txBody>
      </p:sp>
      <p:sp>
        <p:nvSpPr>
          <p:cNvPr id="11" name="Номер слайда 20">
            <a:extLst>
              <a:ext uri="{FF2B5EF4-FFF2-40B4-BE49-F238E27FC236}">
                <a16:creationId xmlns:a16="http://schemas.microsoft.com/office/drawing/2014/main" id="{F6A5DE1D-434C-64BD-0DAE-E8C4A549A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7"/>
          </p:nvPr>
        </p:nvSpPr>
        <p:spPr>
          <a:xfrm>
            <a:off x="1766536" y="1623138"/>
            <a:ext cx="3866856" cy="423628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Личный бюджет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8"/>
          </p:nvPr>
        </p:nvSpPr>
        <p:spPr>
          <a:xfrm>
            <a:off x="1766536" y="2075026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Расходы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не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больше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доходов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Экран</a:t>
            </a:r>
            <a:r>
              <a:rPr sz="1200" b="0" dirty="0">
                <a:solidFill>
                  <a:srgbClr val="D6CFE4"/>
                </a:solidFill>
              </a:rPr>
              <a:t> «</a:t>
            </a:r>
            <a:r>
              <a:rPr sz="1200" b="0" dirty="0" err="1">
                <a:solidFill>
                  <a:srgbClr val="D6CFE4"/>
                </a:solidFill>
              </a:rPr>
              <a:t>План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бюджета</a:t>
            </a:r>
            <a:r>
              <a:rPr sz="1200" b="0" dirty="0">
                <a:solidFill>
                  <a:srgbClr val="D6CFE4"/>
                </a:solidFill>
              </a:rPr>
              <a:t>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9"/>
          </p:nvPr>
        </p:nvSpPr>
        <p:spPr>
          <a:xfrm>
            <a:off x="1747180" y="3227122"/>
            <a:ext cx="3866856" cy="403756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Нужное и желаемое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40"/>
          </p:nvPr>
        </p:nvSpPr>
        <p:spPr>
          <a:xfrm>
            <a:off x="1747180" y="3630878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Обязательные</a:t>
            </a:r>
            <a:r>
              <a:rPr sz="1200" b="0" dirty="0">
                <a:solidFill>
                  <a:srgbClr val="D6CFE4"/>
                </a:solidFill>
              </a:rPr>
              <a:t> и </a:t>
            </a:r>
            <a:r>
              <a:rPr sz="1200" b="0" dirty="0" err="1">
                <a:solidFill>
                  <a:srgbClr val="D6CFE4"/>
                </a:solidFill>
              </a:rPr>
              <a:t>необязательные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расходы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Лавка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из</a:t>
            </a:r>
            <a:r>
              <a:rPr sz="1200" b="0" dirty="0">
                <a:solidFill>
                  <a:srgbClr val="D6CFE4"/>
                </a:solidFill>
              </a:rPr>
              <a:t> 12 </a:t>
            </a:r>
            <a:r>
              <a:rPr sz="1200" b="0" dirty="0" err="1">
                <a:solidFill>
                  <a:srgbClr val="D6CFE4"/>
                </a:solidFill>
              </a:rPr>
              <a:t>товаров</a:t>
            </a:r>
            <a:endParaRPr sz="1200" b="0" dirty="0">
              <a:solidFill>
                <a:srgbClr val="D6CFE4"/>
              </a:solidFill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1747180" y="4811234"/>
            <a:ext cx="3866856" cy="403913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Выбор при нехватке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42"/>
          </p:nvPr>
        </p:nvSpPr>
        <p:spPr>
          <a:xfrm>
            <a:off x="1747180" y="5243407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Планирование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покупок</a:t>
            </a:r>
            <a:r>
              <a:rPr sz="1200" b="0" dirty="0">
                <a:solidFill>
                  <a:srgbClr val="D6CFE4"/>
                </a:solidFill>
              </a:rPr>
              <a:t>, </a:t>
            </a:r>
            <a:r>
              <a:rPr sz="1200" b="0" dirty="0" err="1">
                <a:solidFill>
                  <a:srgbClr val="D6CFE4"/>
                </a:solidFill>
              </a:rPr>
              <a:t>когда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на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всё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не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хватает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Задания</a:t>
            </a:r>
            <a:endParaRPr sz="1200" b="0" dirty="0">
              <a:solidFill>
                <a:srgbClr val="D6CFE4"/>
              </a:solidFill>
            </a:endParaRP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43"/>
          </p:nvPr>
        </p:nvSpPr>
        <p:spPr>
          <a:xfrm>
            <a:off x="7439643" y="1623138"/>
            <a:ext cx="3866856" cy="423628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Цель и накопления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44"/>
          </p:nvPr>
        </p:nvSpPr>
        <p:spPr>
          <a:xfrm>
            <a:off x="7439643" y="2012041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Краткосрочная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цель</a:t>
            </a:r>
            <a:r>
              <a:rPr sz="1200" b="0" dirty="0">
                <a:solidFill>
                  <a:srgbClr val="D6CFE4"/>
                </a:solidFill>
              </a:rPr>
              <a:t> и </a:t>
            </a:r>
            <a:r>
              <a:rPr sz="1200" b="0" dirty="0" err="1">
                <a:solidFill>
                  <a:srgbClr val="D6CFE4"/>
                </a:solidFill>
              </a:rPr>
              <a:t>регулярные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взносы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Копилка</a:t>
            </a:r>
            <a:endParaRPr sz="1200" b="0" dirty="0">
              <a:solidFill>
                <a:srgbClr val="D6CFE4"/>
              </a:solidFill>
            </a:endParaRP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45"/>
          </p:nvPr>
        </p:nvSpPr>
        <p:spPr>
          <a:xfrm>
            <a:off x="7420287" y="3227122"/>
            <a:ext cx="3866856" cy="403756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Оценка решений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46"/>
          </p:nvPr>
        </p:nvSpPr>
        <p:spPr>
          <a:xfrm>
            <a:off x="7420287" y="3630877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Объяснить</a:t>
            </a:r>
            <a:r>
              <a:rPr sz="1200" b="0" dirty="0">
                <a:solidFill>
                  <a:srgbClr val="D6CFE4"/>
                </a:solidFill>
              </a:rPr>
              <a:t>, к </a:t>
            </a:r>
            <a:r>
              <a:rPr sz="1200" b="0" dirty="0" err="1">
                <a:solidFill>
                  <a:srgbClr val="D6CFE4"/>
                </a:solidFill>
              </a:rPr>
              <a:t>чему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привело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решение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Итоги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недели</a:t>
            </a:r>
            <a:endParaRPr sz="1200" b="0" dirty="0">
              <a:solidFill>
                <a:srgbClr val="D6CFE4"/>
              </a:solidFill>
            </a:endParaRP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47"/>
          </p:nvPr>
        </p:nvSpPr>
        <p:spPr>
          <a:xfrm>
            <a:off x="7420287" y="4811234"/>
            <a:ext cx="3866856" cy="403913"/>
          </a:xfrm>
        </p:spPr>
        <p:txBody>
          <a:bodyPr wrap="square"/>
          <a:lstStyle/>
          <a:p>
            <a:r>
              <a:rPr b="1">
                <a:solidFill>
                  <a:srgbClr val="FFFFFF"/>
                </a:solidFill>
              </a:rPr>
              <a:t>Вместе со взрослым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7420287" y="5243407"/>
            <a:ext cx="3866856" cy="672075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sz="1200" b="0" dirty="0" err="1">
                <a:solidFill>
                  <a:srgbClr val="D6CFE4"/>
                </a:solidFill>
              </a:rPr>
              <a:t>Приложение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как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инструмент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семьи</a:t>
            </a:r>
            <a:r>
              <a:rPr sz="1200" b="0" dirty="0">
                <a:solidFill>
                  <a:srgbClr val="D6CFE4"/>
                </a:solidFill>
              </a:rPr>
              <a:t>. </a:t>
            </a:r>
            <a:r>
              <a:rPr sz="1200" b="0" dirty="0" err="1">
                <a:solidFill>
                  <a:srgbClr val="D6CFE4"/>
                </a:solidFill>
              </a:rPr>
              <a:t>Раздел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для</a:t>
            </a:r>
            <a:r>
              <a:rPr sz="1200" b="0" dirty="0">
                <a:solidFill>
                  <a:srgbClr val="D6CFE4"/>
                </a:solidFill>
              </a:rPr>
              <a:t> </a:t>
            </a:r>
            <a:r>
              <a:rPr sz="1200" b="0" dirty="0" err="1">
                <a:solidFill>
                  <a:srgbClr val="D6CFE4"/>
                </a:solidFill>
              </a:rPr>
              <a:t>взрослого</a:t>
            </a:r>
            <a:endParaRPr sz="1200" b="0" dirty="0">
              <a:solidFill>
                <a:srgbClr val="D6CFE4"/>
              </a:solidFill>
            </a:endParaRP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ЧЕМУ УЧИТ ИГРА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49"/>
          </p:nvPr>
        </p:nvSpPr>
        <p:spPr>
          <a:xfrm>
            <a:off x="671488" y="1588413"/>
            <a:ext cx="771003" cy="423628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01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50"/>
          </p:nvPr>
        </p:nvSpPr>
        <p:spPr>
          <a:xfrm>
            <a:off x="652132" y="3192397"/>
            <a:ext cx="771003" cy="403756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02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51"/>
          </p:nvPr>
        </p:nvSpPr>
        <p:spPr>
          <a:xfrm>
            <a:off x="652132" y="4776509"/>
            <a:ext cx="771003" cy="403913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03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52"/>
          </p:nvPr>
        </p:nvSpPr>
        <p:spPr>
          <a:xfrm>
            <a:off x="6344595" y="1588413"/>
            <a:ext cx="771003" cy="423628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04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53"/>
          </p:nvPr>
        </p:nvSpPr>
        <p:spPr>
          <a:xfrm>
            <a:off x="6325239" y="3192397"/>
            <a:ext cx="771003" cy="403756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05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25239" y="4776509"/>
            <a:ext cx="771003" cy="403913"/>
          </a:xfrm>
        </p:spPr>
        <p:txBody>
          <a:bodyPr wrap="square"/>
          <a:lstStyle/>
          <a:p>
            <a:r>
              <a:rPr sz="2400" b="1">
                <a:solidFill>
                  <a:srgbClr val="C9B3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000" y="756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6CFE4"/>
                </a:solidFill>
              </a:rPr>
              <a:t>Базовый уровень Единой рамки компетенций по финансовой грамотности, 7–11 лет</a:t>
            </a:r>
          </a:p>
        </p:txBody>
      </p:sp>
      <p:sp>
        <p:nvSpPr>
          <p:cNvPr id="22" name="Номер слайда 20">
            <a:extLst>
              <a:ext uri="{FF2B5EF4-FFF2-40B4-BE49-F238E27FC236}">
                <a16:creationId xmlns:a16="http://schemas.microsoft.com/office/drawing/2014/main" id="{7009E83D-7873-0179-E799-0D0EAFE02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360000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ПОЧЕМУ ИМЕННО ПИТОМЕЦ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1224000"/>
            <a:ext cx="56880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 dirty="0" err="1">
                <a:solidFill>
                  <a:srgbClr val="C9B3FF"/>
                </a:solidFill>
              </a:rPr>
              <a:t>Последствие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видно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сразу</a:t>
            </a:r>
            <a:r>
              <a:rPr sz="1600" b="1" dirty="0">
                <a:solidFill>
                  <a:srgbClr val="C9B3FF"/>
                </a:solidFill>
              </a:rPr>
              <a:t>.</a:t>
            </a:r>
            <a:r>
              <a:rPr sz="1600" dirty="0">
                <a:solidFill>
                  <a:srgbClr val="FFFFFF"/>
                </a:solidFill>
              </a:rPr>
              <a:t>  </a:t>
            </a:r>
            <a:r>
              <a:rPr sz="1600" dirty="0" err="1">
                <a:solidFill>
                  <a:srgbClr val="FFFFFF"/>
                </a:solidFill>
              </a:rPr>
              <a:t>Купил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еду</a:t>
            </a:r>
            <a:r>
              <a:rPr sz="1600" dirty="0">
                <a:solidFill>
                  <a:srgbClr val="FFFFFF"/>
                </a:solidFill>
              </a:rPr>
              <a:t> – </a:t>
            </a:r>
            <a:r>
              <a:rPr sz="1600" dirty="0" err="1">
                <a:solidFill>
                  <a:srgbClr val="FFFFFF"/>
                </a:solidFill>
              </a:rPr>
              <a:t>питомец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сыт</a:t>
            </a:r>
            <a:r>
              <a:rPr sz="1600" dirty="0">
                <a:solidFill>
                  <a:srgbClr val="FFFFFF"/>
                </a:solidFill>
              </a:rPr>
              <a:t>. </a:t>
            </a:r>
            <a:r>
              <a:rPr sz="1600" dirty="0" err="1">
                <a:solidFill>
                  <a:srgbClr val="FFFFFF"/>
                </a:solidFill>
              </a:rPr>
              <a:t>Потратил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всё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на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игрушки</a:t>
            </a:r>
            <a:r>
              <a:rPr sz="1600" dirty="0">
                <a:solidFill>
                  <a:srgbClr val="FFFFFF"/>
                </a:solidFill>
              </a:rPr>
              <a:t> – </a:t>
            </a:r>
            <a:r>
              <a:rPr sz="1600" dirty="0" err="1">
                <a:solidFill>
                  <a:srgbClr val="FFFFFF"/>
                </a:solidFill>
              </a:rPr>
              <a:t>проголодался</a:t>
            </a:r>
            <a:r>
              <a:rPr sz="1600" dirty="0">
                <a:solidFill>
                  <a:srgbClr val="FFFFFF"/>
                </a:solidFill>
              </a:rPr>
              <a:t>. </a:t>
            </a:r>
            <a:r>
              <a:rPr sz="1600" dirty="0" err="1">
                <a:solidFill>
                  <a:srgbClr val="FFFFFF"/>
                </a:solidFill>
              </a:rPr>
              <a:t>Ребёнку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нужно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верить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на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слово</a:t>
            </a:r>
            <a:r>
              <a:rPr sz="16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sz="1600" b="1" dirty="0" err="1">
                <a:solidFill>
                  <a:srgbClr val="C9B3FF"/>
                </a:solidFill>
              </a:rPr>
              <a:t>Забота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мотивирует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сильнее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очков</a:t>
            </a:r>
            <a:r>
              <a:rPr sz="1600" b="1" dirty="0">
                <a:solidFill>
                  <a:srgbClr val="C9B3FF"/>
                </a:solidFill>
              </a:rPr>
              <a:t>.</a:t>
            </a:r>
            <a:r>
              <a:rPr sz="1600" dirty="0">
                <a:solidFill>
                  <a:srgbClr val="FFFFFF"/>
                </a:solidFill>
              </a:rPr>
              <a:t>  О </a:t>
            </a:r>
            <a:r>
              <a:rPr sz="1600" dirty="0" err="1">
                <a:solidFill>
                  <a:srgbClr val="FFFFFF"/>
                </a:solidFill>
              </a:rPr>
              <a:t>питомце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хочется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заботиться</a:t>
            </a:r>
            <a:r>
              <a:rPr sz="1600" dirty="0">
                <a:solidFill>
                  <a:srgbClr val="FFFFFF"/>
                </a:solidFill>
              </a:rPr>
              <a:t>, и </a:t>
            </a:r>
            <a:r>
              <a:rPr sz="1600" dirty="0" err="1">
                <a:solidFill>
                  <a:srgbClr val="FFFFFF"/>
                </a:solidFill>
              </a:rPr>
              <a:t>планирование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перестаёт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быть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скучной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обязанностью</a:t>
            </a:r>
            <a:r>
              <a:rPr sz="16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sz="1600" b="1" dirty="0" err="1">
                <a:solidFill>
                  <a:srgbClr val="C9B3FF"/>
                </a:solidFill>
              </a:rPr>
              <a:t>Рост</a:t>
            </a:r>
            <a:r>
              <a:rPr sz="1600" b="1" dirty="0">
                <a:solidFill>
                  <a:srgbClr val="C9B3FF"/>
                </a:solidFill>
              </a:rPr>
              <a:t> – </a:t>
            </a:r>
            <a:r>
              <a:rPr sz="1600" b="1" dirty="0" err="1">
                <a:solidFill>
                  <a:srgbClr val="C9B3FF"/>
                </a:solidFill>
              </a:rPr>
              <a:t>это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серия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решений</a:t>
            </a:r>
            <a:r>
              <a:rPr sz="1600" b="1" dirty="0">
                <a:solidFill>
                  <a:srgbClr val="C9B3FF"/>
                </a:solidFill>
              </a:rPr>
              <a:t>.</a:t>
            </a:r>
            <a:r>
              <a:rPr sz="1600" dirty="0">
                <a:solidFill>
                  <a:srgbClr val="FFFFFF"/>
                </a:solidFill>
              </a:rPr>
              <a:t>  </a:t>
            </a:r>
            <a:r>
              <a:rPr sz="1600" dirty="0" err="1">
                <a:solidFill>
                  <a:srgbClr val="FFFFFF"/>
                </a:solidFill>
              </a:rPr>
              <a:t>Питомец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взрослеет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от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того</a:t>
            </a:r>
            <a:r>
              <a:rPr sz="1600" dirty="0">
                <a:solidFill>
                  <a:srgbClr val="FFFFFF"/>
                </a:solidFill>
              </a:rPr>
              <a:t>, </a:t>
            </a:r>
            <a:r>
              <a:rPr sz="1600" dirty="0" err="1">
                <a:solidFill>
                  <a:srgbClr val="FFFFFF"/>
                </a:solidFill>
              </a:rPr>
              <a:t>как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ребёнок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вёл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бюджет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несколько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недель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подряд</a:t>
            </a:r>
            <a:r>
              <a:rPr sz="1600" dirty="0">
                <a:solidFill>
                  <a:srgbClr val="FFFFFF"/>
                </a:solidFill>
              </a:rPr>
              <a:t>. </a:t>
            </a:r>
            <a:r>
              <a:rPr sz="1600" dirty="0" err="1">
                <a:solidFill>
                  <a:srgbClr val="FFFFFF"/>
                </a:solidFill>
              </a:rPr>
              <a:t>Одним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нажатием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стадию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получить</a:t>
            </a:r>
            <a:r>
              <a:rPr sz="16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sz="1600" b="1" dirty="0" err="1">
                <a:solidFill>
                  <a:srgbClr val="C9B3FF"/>
                </a:solidFill>
              </a:rPr>
              <a:t>Ошибка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безопасна</a:t>
            </a:r>
            <a:r>
              <a:rPr sz="1600" b="1" dirty="0">
                <a:solidFill>
                  <a:srgbClr val="C9B3FF"/>
                </a:solidFill>
              </a:rPr>
              <a:t>.</a:t>
            </a:r>
            <a:r>
              <a:rPr sz="1600" dirty="0">
                <a:solidFill>
                  <a:srgbClr val="FFFFFF"/>
                </a:solidFill>
              </a:rPr>
              <a:t>  </a:t>
            </a:r>
            <a:r>
              <a:rPr sz="1600" dirty="0" err="1">
                <a:solidFill>
                  <a:srgbClr val="FFFFFF"/>
                </a:solidFill>
              </a:rPr>
              <a:t>Питомец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болеет</a:t>
            </a:r>
            <a:r>
              <a:rPr sz="1600" dirty="0">
                <a:solidFill>
                  <a:srgbClr val="FFFFFF"/>
                </a:solidFill>
              </a:rPr>
              <a:t> и </a:t>
            </a:r>
            <a:r>
              <a:rPr sz="1600" dirty="0" err="1">
                <a:solidFill>
                  <a:srgbClr val="FFFFFF"/>
                </a:solidFill>
              </a:rPr>
              <a:t>не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умирает</a:t>
            </a:r>
            <a:r>
              <a:rPr sz="1600" dirty="0">
                <a:solidFill>
                  <a:srgbClr val="FFFFFF"/>
                </a:solidFill>
              </a:rPr>
              <a:t>. </a:t>
            </a:r>
            <a:r>
              <a:rPr sz="1600" dirty="0" err="1">
                <a:solidFill>
                  <a:srgbClr val="FFFFFF"/>
                </a:solidFill>
              </a:rPr>
              <a:t>Неудачная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неделя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просто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приносит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меньше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очков</a:t>
            </a:r>
            <a:r>
              <a:rPr sz="1600" dirty="0">
                <a:solidFill>
                  <a:srgbClr val="FFFFFF"/>
                </a:solidFill>
              </a:rPr>
              <a:t>, а </a:t>
            </a:r>
            <a:r>
              <a:rPr sz="1600" dirty="0" err="1">
                <a:solidFill>
                  <a:srgbClr val="FFFFFF"/>
                </a:solidFill>
              </a:rPr>
              <a:t>достигнутое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не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отнимается</a:t>
            </a:r>
            <a:r>
              <a:rPr sz="16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sz="1600" b="1" dirty="0" err="1">
                <a:solidFill>
                  <a:srgbClr val="C9B3FF"/>
                </a:solidFill>
              </a:rPr>
              <a:t>Характер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влияет</a:t>
            </a:r>
            <a:r>
              <a:rPr sz="1600" b="1" dirty="0">
                <a:solidFill>
                  <a:srgbClr val="C9B3FF"/>
                </a:solidFill>
              </a:rPr>
              <a:t>, </a:t>
            </a:r>
            <a:r>
              <a:rPr sz="1600" b="1" dirty="0" err="1">
                <a:solidFill>
                  <a:srgbClr val="C9B3FF"/>
                </a:solidFill>
              </a:rPr>
              <a:t>но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не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учит</a:t>
            </a:r>
            <a:r>
              <a:rPr sz="1600" b="1" dirty="0">
                <a:solidFill>
                  <a:srgbClr val="C9B3FF"/>
                </a:solidFill>
              </a:rPr>
              <a:t> </a:t>
            </a:r>
            <a:r>
              <a:rPr sz="1600" b="1" dirty="0" err="1">
                <a:solidFill>
                  <a:srgbClr val="C9B3FF"/>
                </a:solidFill>
              </a:rPr>
              <a:t>плохому</a:t>
            </a:r>
            <a:r>
              <a:rPr sz="1600" b="1" dirty="0">
                <a:solidFill>
                  <a:srgbClr val="C9B3FF"/>
                </a:solidFill>
              </a:rPr>
              <a:t>.</a:t>
            </a:r>
            <a:r>
              <a:rPr sz="1600" dirty="0">
                <a:solidFill>
                  <a:srgbClr val="FFFFFF"/>
                </a:solidFill>
              </a:rPr>
              <a:t>  </a:t>
            </a:r>
            <a:r>
              <a:rPr sz="1600" dirty="0" err="1">
                <a:solidFill>
                  <a:srgbClr val="FFFFFF"/>
                </a:solidFill>
              </a:rPr>
              <a:t>Один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питомец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тянёт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всё</a:t>
            </a:r>
            <a:r>
              <a:rPr sz="1600" dirty="0">
                <a:solidFill>
                  <a:srgbClr val="FFFFFF"/>
                </a:solidFill>
              </a:rPr>
              <a:t> в </a:t>
            </a:r>
            <a:r>
              <a:rPr sz="1600" dirty="0" err="1">
                <a:solidFill>
                  <a:srgbClr val="FFFFFF"/>
                </a:solidFill>
              </a:rPr>
              <a:t>копилку</a:t>
            </a:r>
            <a:r>
              <a:rPr sz="1600" dirty="0">
                <a:solidFill>
                  <a:srgbClr val="FFFFFF"/>
                </a:solidFill>
              </a:rPr>
              <a:t>, </a:t>
            </a:r>
            <a:r>
              <a:rPr sz="1600" dirty="0" err="1">
                <a:solidFill>
                  <a:srgbClr val="FFFFFF"/>
                </a:solidFill>
              </a:rPr>
              <a:t>другой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бежит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за</a:t>
            </a:r>
            <a:r>
              <a:rPr sz="1600" dirty="0">
                <a:solidFill>
                  <a:srgbClr val="FFFFFF"/>
                </a:solidFill>
              </a:rPr>
              <a:t> «</a:t>
            </a:r>
            <a:r>
              <a:rPr sz="1600" dirty="0" err="1">
                <a:solidFill>
                  <a:srgbClr val="FFFFFF"/>
                </a:solidFill>
              </a:rPr>
              <a:t>скидкой</a:t>
            </a:r>
            <a:r>
              <a:rPr sz="1600" dirty="0">
                <a:solidFill>
                  <a:srgbClr val="FFFFFF"/>
                </a:solidFill>
              </a:rPr>
              <a:t>». </a:t>
            </a:r>
            <a:r>
              <a:rPr sz="1600" dirty="0" err="1">
                <a:solidFill>
                  <a:srgbClr val="FFFFFF"/>
                </a:solidFill>
              </a:rPr>
              <a:t>Рядом</a:t>
            </a:r>
            <a:r>
              <a:rPr sz="1600" dirty="0">
                <a:solidFill>
                  <a:srgbClr val="FFFFFF"/>
                </a:solidFill>
              </a:rPr>
              <a:t> с </a:t>
            </a:r>
            <a:r>
              <a:rPr sz="1600" dirty="0" err="1">
                <a:solidFill>
                  <a:srgbClr val="FFFFFF"/>
                </a:solidFill>
              </a:rPr>
              <a:t>репликой</a:t>
            </a:r>
            <a:r>
              <a:rPr sz="1600" dirty="0">
                <a:solidFill>
                  <a:srgbClr val="FFFFFF"/>
                </a:solidFill>
              </a:rPr>
              <a:t> – </a:t>
            </a:r>
            <a:r>
              <a:rPr sz="1600" dirty="0" err="1">
                <a:solidFill>
                  <a:srgbClr val="FFFFFF"/>
                </a:solidFill>
              </a:rPr>
              <a:t>спокойная</a:t>
            </a:r>
            <a:r>
              <a:rPr sz="1600" dirty="0">
                <a:solidFill>
                  <a:srgbClr val="FFFFFF"/>
                </a:solidFill>
              </a:rPr>
              <a:t> </a:t>
            </a:r>
            <a:r>
              <a:rPr sz="1600" dirty="0" err="1">
                <a:solidFill>
                  <a:srgbClr val="FFFFFF"/>
                </a:solidFill>
              </a:rPr>
              <a:t>подсказка</a:t>
            </a:r>
            <a:r>
              <a:rPr sz="1600" dirty="0">
                <a:solidFill>
                  <a:srgbClr val="FFFFFF"/>
                </a:solidFill>
              </a:rPr>
              <a:t>.</a:t>
            </a:r>
          </a:p>
        </p:txBody>
      </p:sp>
      <p:pic>
        <p:nvPicPr>
          <p:cNvPr id="4" name="Picture 3" descr="finni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002" y="2279229"/>
            <a:ext cx="1368000" cy="1149771"/>
          </a:xfrm>
          <a:prstGeom prst="rect">
            <a:avLst/>
          </a:prstGeom>
        </p:spPr>
      </p:pic>
      <p:pic>
        <p:nvPicPr>
          <p:cNvPr id="5" name="Picture 4" descr="finni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002" y="2171229"/>
            <a:ext cx="1512000" cy="1288800"/>
          </a:xfrm>
          <a:prstGeom prst="rect">
            <a:avLst/>
          </a:prstGeom>
        </p:spPr>
      </p:pic>
      <p:pic>
        <p:nvPicPr>
          <p:cNvPr id="6" name="Picture 5" descr="finni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002" y="2063229"/>
            <a:ext cx="1655999" cy="124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76002" y="4007229"/>
            <a:ext cx="13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6CFE4"/>
                </a:solidFill>
              </a:rPr>
              <a:t>Малыш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4002" y="4007229"/>
            <a:ext cx="151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6CFE4"/>
                </a:solidFill>
              </a:rPr>
              <a:t>Копилка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2002" y="4007229"/>
            <a:ext cx="1655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6CFE4"/>
                </a:solidFill>
              </a:rPr>
              <a:t>Хранитель мечты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6002" y="4511229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Три стадии Финни. Всего в игре семь питомцев, у каждого три окраса и три стадии – 63 изображения</a:t>
            </a:r>
          </a:p>
        </p:txBody>
      </p:sp>
      <p:sp>
        <p:nvSpPr>
          <p:cNvPr id="11" name="Номер слайда 20">
            <a:extLst>
              <a:ext uri="{FF2B5EF4-FFF2-40B4-BE49-F238E27FC236}">
                <a16:creationId xmlns:a16="http://schemas.microsoft.com/office/drawing/2014/main" id="{108613D1-4543-C0D5-65C1-9FC9C2A754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360000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ИГРОВАЯ НЕДЕЛЯ И ЭКОНОМИКА</a:t>
            </a:r>
          </a:p>
        </p:txBody>
      </p:sp>
      <p:pic>
        <p:nvPicPr>
          <p:cNvPr id="3" name="Picture 2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99" y="1152000"/>
            <a:ext cx="6983999" cy="45489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3999" y="5868000"/>
            <a:ext cx="698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Неделя игровая: она идёт в темпе ребёнка и заканчивается, когда он сам подводит итоги. Ждать настоящую неделю не нужно – весь круг проходится за вечер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3999" y="1224000"/>
            <a:ext cx="3744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300 Φ</a:t>
            </a:r>
            <a:r>
              <a:rPr sz="1100">
                <a:solidFill>
                  <a:srgbClr val="FFFFFF"/>
                </a:solidFill>
              </a:rPr>
              <a:t>  стартовый бюджет первой недели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220 Φ</a:t>
            </a:r>
            <a:r>
              <a:rPr sz="1100">
                <a:solidFill>
                  <a:srgbClr val="FFFFFF"/>
                </a:solidFill>
              </a:rPr>
              <a:t>  карманные финкоины каждой следующей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3 направления</a:t>
            </a:r>
            <a:r>
              <a:rPr sz="1100">
                <a:solidFill>
                  <a:srgbClr val="FFFFFF"/>
                </a:solidFill>
              </a:rPr>
              <a:t>  обязательное, желаемое, копилка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12 товаров</a:t>
            </a:r>
            <a:r>
              <a:rPr sz="1100">
                <a:solidFill>
                  <a:srgbClr val="FFFFFF"/>
                </a:solidFill>
              </a:rPr>
              <a:t>  шесть обязательных и шесть желаемых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4 события</a:t>
            </a:r>
            <a:r>
              <a:rPr sz="1100">
                <a:solidFill>
                  <a:srgbClr val="FFFFFF"/>
                </a:solidFill>
              </a:rPr>
              <a:t>  подарок, осмотр у доктора, коврик, ярмарка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C9B3FF"/>
                </a:solidFill>
              </a:rPr>
              <a:t>7 очков</a:t>
            </a:r>
            <a:r>
              <a:rPr sz="1100">
                <a:solidFill>
                  <a:srgbClr val="FFFFFF"/>
                </a:solidFill>
              </a:rPr>
              <a:t>  за идеальную неделю, три стадии – за 20</a:t>
            </a:r>
          </a:p>
        </p:txBody>
      </p:sp>
      <p:sp>
        <p:nvSpPr>
          <p:cNvPr id="6" name="Номер слайда 20">
            <a:extLst>
              <a:ext uri="{FF2B5EF4-FFF2-40B4-BE49-F238E27FC236}">
                <a16:creationId xmlns:a16="http://schemas.microsoft.com/office/drawing/2014/main" id="{F23F27CB-5B61-EBE0-6B2E-18A59CB25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85FF2-39D0-E0C3-3680-A2B152A0D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图片 19">
            <a:extLst>
              <a:ext uri="{FF2B5EF4-FFF2-40B4-BE49-F238E27FC236}">
                <a16:creationId xmlns:a16="http://schemas.microsoft.com/office/drawing/2014/main" id="{1A22D060-4C97-7255-C8C0-E6BC99F70B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93" t="37069" r="8895" b="50000"/>
          <a:stretch>
            <a:fillRect/>
          </a:stretch>
        </p:blipFill>
        <p:spPr>
          <a:xfrm rot="21331850">
            <a:off x="19725995" y="2522825"/>
            <a:ext cx="24787809" cy="14768003"/>
          </a:xfrm>
          <a:prstGeom prst="rect">
            <a:avLst/>
          </a:prstGeom>
          <a:effectLst>
            <a:softEdge rad="0"/>
          </a:effectLst>
        </p:spPr>
      </p:pic>
      <p:pic>
        <p:nvPicPr>
          <p:cNvPr id="60" name="图片 19">
            <a:extLst>
              <a:ext uri="{FF2B5EF4-FFF2-40B4-BE49-F238E27FC236}">
                <a16:creationId xmlns:a16="http://schemas.microsoft.com/office/drawing/2014/main" id="{CB6351A9-1B56-AB25-8A78-FA1FA0AF8E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93" t="37069" r="8895" b="50000"/>
          <a:stretch>
            <a:fillRect/>
          </a:stretch>
        </p:blipFill>
        <p:spPr>
          <a:xfrm rot="11013789">
            <a:off x="-3966367" y="-2337091"/>
            <a:ext cx="14360521" cy="8555666"/>
          </a:xfrm>
          <a:prstGeom prst="rect">
            <a:avLst/>
          </a:prstGeom>
          <a:effectLst>
            <a:softEdge rad="0"/>
          </a:effec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4A473C-1CDD-9999-6C45-757A23EB884D}"/>
              </a:ext>
            </a:extLst>
          </p:cNvPr>
          <p:cNvSpPr txBox="1"/>
          <p:nvPr/>
        </p:nvSpPr>
        <p:spPr>
          <a:xfrm>
            <a:off x="548640" y="407389"/>
            <a:ext cx="6564488" cy="535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578755">
              <a:lnSpc>
                <a:spcPct val="90000"/>
              </a:lnSpc>
              <a:spcBef>
                <a:spcPct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rPr>
              <a:t>Что реализовано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0B9AED7E-D9FB-C190-186B-D39F5430AB34}"/>
              </a:ext>
            </a:extLst>
          </p:cNvPr>
          <p:cNvSpPr/>
          <p:nvPr/>
        </p:nvSpPr>
        <p:spPr>
          <a:xfrm>
            <a:off x="548640" y="1721457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C24B844-44B5-1FD7-3A2B-5A84E166F508}"/>
              </a:ext>
            </a:extLst>
          </p:cNvPr>
          <p:cNvSpPr/>
          <p:nvPr/>
        </p:nvSpPr>
        <p:spPr>
          <a:xfrm>
            <a:off x="658368" y="1831185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E8F296-05C5-4FD0-D32D-30D3F366F184}"/>
              </a:ext>
            </a:extLst>
          </p:cNvPr>
          <p:cNvSpPr txBox="1"/>
          <p:nvPr/>
        </p:nvSpPr>
        <p:spPr>
          <a:xfrm>
            <a:off x="658368" y="1879282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AF325D-257B-BC28-1335-39270B31A9CD}"/>
              </a:ext>
            </a:extLst>
          </p:cNvPr>
          <p:cNvSpPr txBox="1"/>
          <p:nvPr/>
        </p:nvSpPr>
        <p:spPr>
          <a:xfrm>
            <a:off x="1051560" y="1762519"/>
            <a:ext cx="2880360" cy="411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Знакомство и профиль без регистрации</a:t>
            </a:r>
          </a:p>
        </p:txBody>
      </p:sp>
      <p:sp>
        <p:nvSpPr>
          <p:cNvPr id="24" name="Rounded Rectangle 7">
            <a:extLst>
              <a:ext uri="{FF2B5EF4-FFF2-40B4-BE49-F238E27FC236}">
                <a16:creationId xmlns:a16="http://schemas.microsoft.com/office/drawing/2014/main" id="{8D75FEBA-DE8C-7B49-49AB-CEE83B3CBA91}"/>
              </a:ext>
            </a:extLst>
          </p:cNvPr>
          <p:cNvSpPr/>
          <p:nvPr/>
        </p:nvSpPr>
        <p:spPr>
          <a:xfrm>
            <a:off x="4160520" y="1721457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8520E808-EBBE-0767-5F2D-B3C90158A732}"/>
              </a:ext>
            </a:extLst>
          </p:cNvPr>
          <p:cNvSpPr/>
          <p:nvPr/>
        </p:nvSpPr>
        <p:spPr>
          <a:xfrm>
            <a:off x="4270248" y="1831185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51313D-47F0-563B-C841-7D385746EA65}"/>
              </a:ext>
            </a:extLst>
          </p:cNvPr>
          <p:cNvSpPr txBox="1"/>
          <p:nvPr/>
        </p:nvSpPr>
        <p:spPr>
          <a:xfrm>
            <a:off x="4270248" y="1879282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BC2D7C-AF73-D815-AC55-1CA9EE5139EB}"/>
              </a:ext>
            </a:extLst>
          </p:cNvPr>
          <p:cNvSpPr txBox="1"/>
          <p:nvPr/>
        </p:nvSpPr>
        <p:spPr>
          <a:xfrm>
            <a:off x="4663440" y="1866394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 dirty="0" err="1">
                <a:solidFill>
                  <a:srgbClr val="2B2233"/>
                </a:solidFill>
                <a:latin typeface="Nunito" pitchFamily="2" charset="-52"/>
              </a:rPr>
              <a:t>Питомец</a:t>
            </a:r>
            <a:r>
              <a:rPr sz="1250" b="0" i="0" dirty="0">
                <a:solidFill>
                  <a:srgbClr val="2B2233"/>
                </a:solidFill>
                <a:latin typeface="Nunito" pitchFamily="2" charset="-52"/>
              </a:rPr>
              <a:t>: 7 </a:t>
            </a:r>
            <a:r>
              <a:rPr sz="1250" b="0" i="0" dirty="0" err="1">
                <a:solidFill>
                  <a:srgbClr val="2B2233"/>
                </a:solidFill>
                <a:latin typeface="Nunito" pitchFamily="2" charset="-52"/>
              </a:rPr>
              <a:t>видов</a:t>
            </a:r>
            <a:r>
              <a:rPr sz="1250" b="0" i="0" dirty="0">
                <a:solidFill>
                  <a:srgbClr val="2B2233"/>
                </a:solidFill>
                <a:latin typeface="Nunito" pitchFamily="2" charset="-52"/>
              </a:rPr>
              <a:t>, 3 </a:t>
            </a:r>
            <a:r>
              <a:rPr sz="1250" b="0" i="0" dirty="0" err="1">
                <a:solidFill>
                  <a:srgbClr val="2B2233"/>
                </a:solidFill>
                <a:latin typeface="Nunito" pitchFamily="2" charset="-52"/>
              </a:rPr>
              <a:t>окраса</a:t>
            </a:r>
            <a:r>
              <a:rPr sz="1250" b="0" i="0" dirty="0">
                <a:solidFill>
                  <a:srgbClr val="2B2233"/>
                </a:solidFill>
                <a:latin typeface="Nunito" pitchFamily="2" charset="-52"/>
              </a:rPr>
              <a:t>, 3 </a:t>
            </a:r>
            <a:r>
              <a:rPr sz="1250" b="0" i="0" dirty="0" err="1">
                <a:solidFill>
                  <a:srgbClr val="2B2233"/>
                </a:solidFill>
                <a:latin typeface="Nunito" pitchFamily="2" charset="-52"/>
              </a:rPr>
              <a:t>стадии</a:t>
            </a:r>
            <a:endParaRPr sz="1250" b="0" i="0" dirty="0">
              <a:solidFill>
                <a:srgbClr val="2B2233"/>
              </a:solidFill>
              <a:latin typeface="Nunito" pitchFamily="2" charset="-52"/>
            </a:endParaRPr>
          </a:p>
        </p:txBody>
      </p:sp>
      <p:sp>
        <p:nvSpPr>
          <p:cNvPr id="41" name="Rounded Rectangle 11">
            <a:extLst>
              <a:ext uri="{FF2B5EF4-FFF2-40B4-BE49-F238E27FC236}">
                <a16:creationId xmlns:a16="http://schemas.microsoft.com/office/drawing/2014/main" id="{6B692865-FD44-C656-6AEF-8878AA445A65}"/>
              </a:ext>
            </a:extLst>
          </p:cNvPr>
          <p:cNvSpPr/>
          <p:nvPr/>
        </p:nvSpPr>
        <p:spPr>
          <a:xfrm>
            <a:off x="548640" y="2324961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43" name="Rounded Rectangle 12">
            <a:extLst>
              <a:ext uri="{FF2B5EF4-FFF2-40B4-BE49-F238E27FC236}">
                <a16:creationId xmlns:a16="http://schemas.microsoft.com/office/drawing/2014/main" id="{7594D2CA-F0D2-37C7-3931-5D3284FACE7C}"/>
              </a:ext>
            </a:extLst>
          </p:cNvPr>
          <p:cNvSpPr/>
          <p:nvPr/>
        </p:nvSpPr>
        <p:spPr>
          <a:xfrm>
            <a:off x="658368" y="2434689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563E16-6A5D-04A2-B2C3-D4192301F4A3}"/>
              </a:ext>
            </a:extLst>
          </p:cNvPr>
          <p:cNvSpPr txBox="1"/>
          <p:nvPr/>
        </p:nvSpPr>
        <p:spPr>
          <a:xfrm>
            <a:off x="658368" y="2482786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27F89D-2DB4-69BF-E22E-B9EB703CE126}"/>
              </a:ext>
            </a:extLst>
          </p:cNvPr>
          <p:cNvSpPr txBox="1"/>
          <p:nvPr/>
        </p:nvSpPr>
        <p:spPr>
          <a:xfrm>
            <a:off x="1051560" y="2469898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Главный экран: всё видно сразу</a:t>
            </a:r>
          </a:p>
        </p:txBody>
      </p:sp>
      <p:sp>
        <p:nvSpPr>
          <p:cNvPr id="54" name="Rounded Rectangle 15">
            <a:extLst>
              <a:ext uri="{FF2B5EF4-FFF2-40B4-BE49-F238E27FC236}">
                <a16:creationId xmlns:a16="http://schemas.microsoft.com/office/drawing/2014/main" id="{5204291E-32BD-21D2-DC11-05E8B821CDD8}"/>
              </a:ext>
            </a:extLst>
          </p:cNvPr>
          <p:cNvSpPr/>
          <p:nvPr/>
        </p:nvSpPr>
        <p:spPr>
          <a:xfrm>
            <a:off x="4160520" y="2324961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56" name="Rounded Rectangle 16">
            <a:extLst>
              <a:ext uri="{FF2B5EF4-FFF2-40B4-BE49-F238E27FC236}">
                <a16:creationId xmlns:a16="http://schemas.microsoft.com/office/drawing/2014/main" id="{9663AF59-7629-22E8-BA5B-68D566B70933}"/>
              </a:ext>
            </a:extLst>
          </p:cNvPr>
          <p:cNvSpPr/>
          <p:nvPr/>
        </p:nvSpPr>
        <p:spPr>
          <a:xfrm>
            <a:off x="4270248" y="2434689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550575-201B-A27B-2221-1430A94DD6B9}"/>
              </a:ext>
            </a:extLst>
          </p:cNvPr>
          <p:cNvSpPr txBox="1"/>
          <p:nvPr/>
        </p:nvSpPr>
        <p:spPr>
          <a:xfrm>
            <a:off x="4270248" y="2482786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C6F016-8175-D8C0-8343-DBCE1CABE175}"/>
              </a:ext>
            </a:extLst>
          </p:cNvPr>
          <p:cNvSpPr txBox="1"/>
          <p:nvPr/>
        </p:nvSpPr>
        <p:spPr>
          <a:xfrm>
            <a:off x="4663440" y="2469898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План бюджета и сравнение с фактом</a:t>
            </a:r>
          </a:p>
        </p:txBody>
      </p:sp>
      <p:sp>
        <p:nvSpPr>
          <p:cNvPr id="64" name="Rounded Rectangle 19">
            <a:extLst>
              <a:ext uri="{FF2B5EF4-FFF2-40B4-BE49-F238E27FC236}">
                <a16:creationId xmlns:a16="http://schemas.microsoft.com/office/drawing/2014/main" id="{1CED7C59-1387-F24A-C422-B9042966EA74}"/>
              </a:ext>
            </a:extLst>
          </p:cNvPr>
          <p:cNvSpPr/>
          <p:nvPr/>
        </p:nvSpPr>
        <p:spPr>
          <a:xfrm>
            <a:off x="548640" y="2928465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67" name="Rounded Rectangle 20">
            <a:extLst>
              <a:ext uri="{FF2B5EF4-FFF2-40B4-BE49-F238E27FC236}">
                <a16:creationId xmlns:a16="http://schemas.microsoft.com/office/drawing/2014/main" id="{58262185-675E-24EA-74EF-A919FA180186}"/>
              </a:ext>
            </a:extLst>
          </p:cNvPr>
          <p:cNvSpPr/>
          <p:nvPr/>
        </p:nvSpPr>
        <p:spPr>
          <a:xfrm>
            <a:off x="658368" y="3038193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BF40249-5ED4-F1A2-11FC-34FDED770C8B}"/>
              </a:ext>
            </a:extLst>
          </p:cNvPr>
          <p:cNvSpPr txBox="1"/>
          <p:nvPr/>
        </p:nvSpPr>
        <p:spPr>
          <a:xfrm>
            <a:off x="658368" y="3086290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A6C4DB-B83A-B9EC-5F3E-30D7EA624FD1}"/>
              </a:ext>
            </a:extLst>
          </p:cNvPr>
          <p:cNvSpPr txBox="1"/>
          <p:nvPr/>
        </p:nvSpPr>
        <p:spPr>
          <a:xfrm>
            <a:off x="1051560" y="2969527"/>
            <a:ext cx="2880360" cy="411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Покупки с подтверждением, без минуса</a:t>
            </a:r>
          </a:p>
        </p:txBody>
      </p:sp>
      <p:sp>
        <p:nvSpPr>
          <p:cNvPr id="73" name="Rounded Rectangle 23">
            <a:extLst>
              <a:ext uri="{FF2B5EF4-FFF2-40B4-BE49-F238E27FC236}">
                <a16:creationId xmlns:a16="http://schemas.microsoft.com/office/drawing/2014/main" id="{F75DD60F-E5CF-32DD-4762-38279BAD8F14}"/>
              </a:ext>
            </a:extLst>
          </p:cNvPr>
          <p:cNvSpPr/>
          <p:nvPr/>
        </p:nvSpPr>
        <p:spPr>
          <a:xfrm>
            <a:off x="4160520" y="2928465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75" name="Rounded Rectangle 24">
            <a:extLst>
              <a:ext uri="{FF2B5EF4-FFF2-40B4-BE49-F238E27FC236}">
                <a16:creationId xmlns:a16="http://schemas.microsoft.com/office/drawing/2014/main" id="{28E0CB4C-E43E-8BE1-AA88-A0C8C3668328}"/>
              </a:ext>
            </a:extLst>
          </p:cNvPr>
          <p:cNvSpPr/>
          <p:nvPr/>
        </p:nvSpPr>
        <p:spPr>
          <a:xfrm>
            <a:off x="4270248" y="3038193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07379FB-BCEC-602A-7265-807FEB543239}"/>
              </a:ext>
            </a:extLst>
          </p:cNvPr>
          <p:cNvSpPr txBox="1"/>
          <p:nvPr/>
        </p:nvSpPr>
        <p:spPr>
          <a:xfrm>
            <a:off x="4270248" y="3086290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7A4F79-B379-8E53-6C45-60543584858C}"/>
              </a:ext>
            </a:extLst>
          </p:cNvPr>
          <p:cNvSpPr txBox="1"/>
          <p:nvPr/>
        </p:nvSpPr>
        <p:spPr>
          <a:xfrm>
            <a:off x="4663440" y="3073402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Копилка на три цели и срок до цели</a:t>
            </a:r>
          </a:p>
        </p:txBody>
      </p:sp>
      <p:sp>
        <p:nvSpPr>
          <p:cNvPr id="81" name="Rounded Rectangle 27">
            <a:extLst>
              <a:ext uri="{FF2B5EF4-FFF2-40B4-BE49-F238E27FC236}">
                <a16:creationId xmlns:a16="http://schemas.microsoft.com/office/drawing/2014/main" id="{CA81242B-C9BF-EA78-1D89-3022F12F7AFD}"/>
              </a:ext>
            </a:extLst>
          </p:cNvPr>
          <p:cNvSpPr/>
          <p:nvPr/>
        </p:nvSpPr>
        <p:spPr>
          <a:xfrm>
            <a:off x="548640" y="3531969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83" name="Rounded Rectangle 28">
            <a:extLst>
              <a:ext uri="{FF2B5EF4-FFF2-40B4-BE49-F238E27FC236}">
                <a16:creationId xmlns:a16="http://schemas.microsoft.com/office/drawing/2014/main" id="{0634C876-AD05-29BA-2483-1E16171AB0A8}"/>
              </a:ext>
            </a:extLst>
          </p:cNvPr>
          <p:cNvSpPr/>
          <p:nvPr/>
        </p:nvSpPr>
        <p:spPr>
          <a:xfrm>
            <a:off x="658368" y="3641697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3C28BE2-3F0B-39BE-442F-2584E6CC2EF1}"/>
              </a:ext>
            </a:extLst>
          </p:cNvPr>
          <p:cNvSpPr txBox="1"/>
          <p:nvPr/>
        </p:nvSpPr>
        <p:spPr>
          <a:xfrm>
            <a:off x="658368" y="3689794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B6C15C-5EBF-E643-27FE-F5971D90B157}"/>
              </a:ext>
            </a:extLst>
          </p:cNvPr>
          <p:cNvSpPr txBox="1"/>
          <p:nvPr/>
        </p:nvSpPr>
        <p:spPr>
          <a:xfrm>
            <a:off x="1051560" y="3573031"/>
            <a:ext cx="2880360" cy="411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12 заданий с объяснением при любом ответе</a:t>
            </a:r>
          </a:p>
        </p:txBody>
      </p:sp>
      <p:sp>
        <p:nvSpPr>
          <p:cNvPr id="89" name="Rounded Rectangle 31">
            <a:extLst>
              <a:ext uri="{FF2B5EF4-FFF2-40B4-BE49-F238E27FC236}">
                <a16:creationId xmlns:a16="http://schemas.microsoft.com/office/drawing/2014/main" id="{57D1062F-1576-B6B2-92F2-7FA03EFCD076}"/>
              </a:ext>
            </a:extLst>
          </p:cNvPr>
          <p:cNvSpPr/>
          <p:nvPr/>
        </p:nvSpPr>
        <p:spPr>
          <a:xfrm>
            <a:off x="4160520" y="3531969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91" name="Rounded Rectangle 32">
            <a:extLst>
              <a:ext uri="{FF2B5EF4-FFF2-40B4-BE49-F238E27FC236}">
                <a16:creationId xmlns:a16="http://schemas.microsoft.com/office/drawing/2014/main" id="{F633F6A5-D103-4622-99E1-E7E4A46D8182}"/>
              </a:ext>
            </a:extLst>
          </p:cNvPr>
          <p:cNvSpPr/>
          <p:nvPr/>
        </p:nvSpPr>
        <p:spPr>
          <a:xfrm>
            <a:off x="4270248" y="3641697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191FCC-E215-AEE0-77BA-8EB9F382ADFF}"/>
              </a:ext>
            </a:extLst>
          </p:cNvPr>
          <p:cNvSpPr txBox="1"/>
          <p:nvPr/>
        </p:nvSpPr>
        <p:spPr>
          <a:xfrm>
            <a:off x="4270248" y="3689794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0A21E80-AE1A-66BD-3F50-6F3F18F62763}"/>
              </a:ext>
            </a:extLst>
          </p:cNvPr>
          <p:cNvSpPr txBox="1"/>
          <p:nvPr/>
        </p:nvSpPr>
        <p:spPr>
          <a:xfrm>
            <a:off x="4663440" y="3573031"/>
            <a:ext cx="2880360" cy="411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Обратная связь после каждого действия</a:t>
            </a:r>
          </a:p>
        </p:txBody>
      </p:sp>
      <p:sp>
        <p:nvSpPr>
          <p:cNvPr id="97" name="Rounded Rectangle 35">
            <a:extLst>
              <a:ext uri="{FF2B5EF4-FFF2-40B4-BE49-F238E27FC236}">
                <a16:creationId xmlns:a16="http://schemas.microsoft.com/office/drawing/2014/main" id="{8DDE0E6A-5D0D-9111-D9E8-538EB4218659}"/>
              </a:ext>
            </a:extLst>
          </p:cNvPr>
          <p:cNvSpPr/>
          <p:nvPr/>
        </p:nvSpPr>
        <p:spPr>
          <a:xfrm>
            <a:off x="548640" y="4135473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99" name="Rounded Rectangle 36">
            <a:extLst>
              <a:ext uri="{FF2B5EF4-FFF2-40B4-BE49-F238E27FC236}">
                <a16:creationId xmlns:a16="http://schemas.microsoft.com/office/drawing/2014/main" id="{72CA4BE9-3B8F-6C6E-5A7C-6896883D317A}"/>
              </a:ext>
            </a:extLst>
          </p:cNvPr>
          <p:cNvSpPr/>
          <p:nvPr/>
        </p:nvSpPr>
        <p:spPr>
          <a:xfrm>
            <a:off x="658368" y="4245201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0F46951-CDCE-6A85-271F-BF22125BFBAD}"/>
              </a:ext>
            </a:extLst>
          </p:cNvPr>
          <p:cNvSpPr txBox="1"/>
          <p:nvPr/>
        </p:nvSpPr>
        <p:spPr>
          <a:xfrm>
            <a:off x="658368" y="4293298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CC4AC59-61EA-935F-A9D2-F178484D8303}"/>
              </a:ext>
            </a:extLst>
          </p:cNvPr>
          <p:cNvSpPr txBox="1"/>
          <p:nvPr/>
        </p:nvSpPr>
        <p:spPr>
          <a:xfrm>
            <a:off x="1051560" y="4280410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История, прогресс и финсловарь</a:t>
            </a:r>
          </a:p>
        </p:txBody>
      </p:sp>
      <p:sp>
        <p:nvSpPr>
          <p:cNvPr id="105" name="Rounded Rectangle 39">
            <a:extLst>
              <a:ext uri="{FF2B5EF4-FFF2-40B4-BE49-F238E27FC236}">
                <a16:creationId xmlns:a16="http://schemas.microsoft.com/office/drawing/2014/main" id="{7508B630-3CD4-7D04-BA2C-88DFB306986C}"/>
              </a:ext>
            </a:extLst>
          </p:cNvPr>
          <p:cNvSpPr/>
          <p:nvPr/>
        </p:nvSpPr>
        <p:spPr>
          <a:xfrm>
            <a:off x="4160520" y="4135473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07" name="Rounded Rectangle 40">
            <a:extLst>
              <a:ext uri="{FF2B5EF4-FFF2-40B4-BE49-F238E27FC236}">
                <a16:creationId xmlns:a16="http://schemas.microsoft.com/office/drawing/2014/main" id="{410BD806-2F08-3DAE-601E-F82E630601B2}"/>
              </a:ext>
            </a:extLst>
          </p:cNvPr>
          <p:cNvSpPr/>
          <p:nvPr/>
        </p:nvSpPr>
        <p:spPr>
          <a:xfrm>
            <a:off x="4270248" y="4245201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31033E-2367-D59E-862C-0A9B748C59A4}"/>
              </a:ext>
            </a:extLst>
          </p:cNvPr>
          <p:cNvSpPr txBox="1"/>
          <p:nvPr/>
        </p:nvSpPr>
        <p:spPr>
          <a:xfrm>
            <a:off x="4270248" y="4293298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D543DE4-27AC-AD33-A601-00B326CF483C}"/>
              </a:ext>
            </a:extLst>
          </p:cNvPr>
          <p:cNvSpPr txBox="1"/>
          <p:nvPr/>
        </p:nvSpPr>
        <p:spPr>
          <a:xfrm>
            <a:off x="4663440" y="4280410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Раздел для взрослого за барьером</a:t>
            </a:r>
          </a:p>
        </p:txBody>
      </p:sp>
      <p:sp>
        <p:nvSpPr>
          <p:cNvPr id="113" name="Rounded Rectangle 43">
            <a:extLst>
              <a:ext uri="{FF2B5EF4-FFF2-40B4-BE49-F238E27FC236}">
                <a16:creationId xmlns:a16="http://schemas.microsoft.com/office/drawing/2014/main" id="{C060BA9B-7EF6-63A6-6695-8B006EF3F8F4}"/>
              </a:ext>
            </a:extLst>
          </p:cNvPr>
          <p:cNvSpPr/>
          <p:nvPr/>
        </p:nvSpPr>
        <p:spPr>
          <a:xfrm>
            <a:off x="548640" y="4738977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15" name="Rounded Rectangle 44">
            <a:extLst>
              <a:ext uri="{FF2B5EF4-FFF2-40B4-BE49-F238E27FC236}">
                <a16:creationId xmlns:a16="http://schemas.microsoft.com/office/drawing/2014/main" id="{D9EA7D83-A81F-633A-D47B-9ACBD00B8A9C}"/>
              </a:ext>
            </a:extLst>
          </p:cNvPr>
          <p:cNvSpPr/>
          <p:nvPr/>
        </p:nvSpPr>
        <p:spPr>
          <a:xfrm>
            <a:off x="658368" y="4848705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145C35-A8BC-B9D9-87BA-2A6C6D6FF93B}"/>
              </a:ext>
            </a:extLst>
          </p:cNvPr>
          <p:cNvSpPr txBox="1"/>
          <p:nvPr/>
        </p:nvSpPr>
        <p:spPr>
          <a:xfrm>
            <a:off x="658368" y="4896802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4C7995E-B572-7FC0-CAD8-8BC1FEE68526}"/>
              </a:ext>
            </a:extLst>
          </p:cNvPr>
          <p:cNvSpPr txBox="1"/>
          <p:nvPr/>
        </p:nvSpPr>
        <p:spPr>
          <a:xfrm>
            <a:off x="1051560" y="4883914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Сохранение между запусками</a:t>
            </a:r>
          </a:p>
        </p:txBody>
      </p:sp>
      <p:sp>
        <p:nvSpPr>
          <p:cNvPr id="121" name="Rounded Rectangle 47">
            <a:extLst>
              <a:ext uri="{FF2B5EF4-FFF2-40B4-BE49-F238E27FC236}">
                <a16:creationId xmlns:a16="http://schemas.microsoft.com/office/drawing/2014/main" id="{A9ADACBE-94D2-13DB-B746-F5C117E9D7AD}"/>
              </a:ext>
            </a:extLst>
          </p:cNvPr>
          <p:cNvSpPr/>
          <p:nvPr/>
        </p:nvSpPr>
        <p:spPr>
          <a:xfrm>
            <a:off x="4160520" y="4738977"/>
            <a:ext cx="3429000" cy="493776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 w="12700">
            <a:solidFill>
              <a:srgbClr val="E8D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23" name="Rounded Rectangle 48">
            <a:extLst>
              <a:ext uri="{FF2B5EF4-FFF2-40B4-BE49-F238E27FC236}">
                <a16:creationId xmlns:a16="http://schemas.microsoft.com/office/drawing/2014/main" id="{EB82DDDD-F63F-81CE-97B3-8E20A4F9DF15}"/>
              </a:ext>
            </a:extLst>
          </p:cNvPr>
          <p:cNvSpPr/>
          <p:nvPr/>
        </p:nvSpPr>
        <p:spPr>
          <a:xfrm>
            <a:off x="4270248" y="4848705"/>
            <a:ext cx="274320" cy="274320"/>
          </a:xfrm>
          <a:prstGeom prst="roundRect">
            <a:avLst>
              <a:gd name="adj" fmla="val 26666"/>
            </a:avLst>
          </a:prstGeom>
          <a:solidFill>
            <a:srgbClr val="E3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F2BF685-19AE-37D9-6D7C-BC8518F070BE}"/>
              </a:ext>
            </a:extLst>
          </p:cNvPr>
          <p:cNvSpPr txBox="1"/>
          <p:nvPr/>
        </p:nvSpPr>
        <p:spPr>
          <a:xfrm>
            <a:off x="4270248" y="4896802"/>
            <a:ext cx="274320" cy="178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3E8E45"/>
                </a:solidFill>
                <a:latin typeface="Nunito" pitchFamily="2" charset="-52"/>
              </a:rPr>
              <a:t>✓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361A176-BDE4-1D20-BF4C-08840FD8BB64}"/>
              </a:ext>
            </a:extLst>
          </p:cNvPr>
          <p:cNvSpPr txBox="1"/>
          <p:nvPr/>
        </p:nvSpPr>
        <p:spPr>
          <a:xfrm>
            <a:off x="4663440" y="4883914"/>
            <a:ext cx="2880360" cy="2039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0" i="0">
                <a:solidFill>
                  <a:srgbClr val="2B2233"/>
                </a:solidFill>
                <a:latin typeface="Nunito" pitchFamily="2" charset="-52"/>
              </a:rPr>
              <a:t>Демонстрационный режим</a:t>
            </a:r>
          </a:p>
        </p:txBody>
      </p:sp>
      <p:sp>
        <p:nvSpPr>
          <p:cNvPr id="129" name="Rounded Rectangle 51">
            <a:extLst>
              <a:ext uri="{FF2B5EF4-FFF2-40B4-BE49-F238E27FC236}">
                <a16:creationId xmlns:a16="http://schemas.microsoft.com/office/drawing/2014/main" id="{9ECC04CF-9E98-CA64-B68D-8309D0AE989C}"/>
              </a:ext>
            </a:extLst>
          </p:cNvPr>
          <p:cNvSpPr/>
          <p:nvPr/>
        </p:nvSpPr>
        <p:spPr>
          <a:xfrm>
            <a:off x="7965356" y="1436227"/>
            <a:ext cx="1874519" cy="1051560"/>
          </a:xfrm>
          <a:prstGeom prst="roundRect">
            <a:avLst>
              <a:gd name="adj" fmla="val 15652"/>
            </a:avLst>
          </a:prstGeom>
          <a:solidFill>
            <a:srgbClr val="ED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BB1F6A2-F3BC-075E-24F1-0D2EF20786B0}"/>
              </a:ext>
            </a:extLst>
          </p:cNvPr>
          <p:cNvSpPr txBox="1"/>
          <p:nvPr/>
        </p:nvSpPr>
        <p:spPr>
          <a:xfrm>
            <a:off x="8148235" y="1509379"/>
            <a:ext cx="1645920" cy="424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 dirty="0">
                <a:solidFill>
                  <a:srgbClr val="6F3DE8"/>
                </a:solidFill>
                <a:latin typeface="Nunito Black" pitchFamily="2" charset="-52"/>
              </a:rPr>
              <a:t>21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9B846D3-9F9A-FDB5-7771-481A0DD85D6C}"/>
              </a:ext>
            </a:extLst>
          </p:cNvPr>
          <p:cNvSpPr txBox="1"/>
          <p:nvPr/>
        </p:nvSpPr>
        <p:spPr>
          <a:xfrm>
            <a:off x="8148235" y="2058019"/>
            <a:ext cx="1645920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2B2233"/>
                </a:solidFill>
                <a:latin typeface="Nunito" pitchFamily="2" charset="-52"/>
              </a:rPr>
              <a:t>вариант внешности</a:t>
            </a:r>
          </a:p>
        </p:txBody>
      </p:sp>
      <p:sp>
        <p:nvSpPr>
          <p:cNvPr id="135" name="Rounded Rectangle 54">
            <a:extLst>
              <a:ext uri="{FF2B5EF4-FFF2-40B4-BE49-F238E27FC236}">
                <a16:creationId xmlns:a16="http://schemas.microsoft.com/office/drawing/2014/main" id="{CB3E430B-4B45-7A30-0412-C37631C4640E}"/>
              </a:ext>
            </a:extLst>
          </p:cNvPr>
          <p:cNvSpPr/>
          <p:nvPr/>
        </p:nvSpPr>
        <p:spPr>
          <a:xfrm>
            <a:off x="9977036" y="1436227"/>
            <a:ext cx="1874519" cy="1051560"/>
          </a:xfrm>
          <a:prstGeom prst="roundRect">
            <a:avLst>
              <a:gd name="adj" fmla="val 15652"/>
            </a:avLst>
          </a:prstGeom>
          <a:solidFill>
            <a:srgbClr val="ED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ECF08A7-8879-2318-D769-EAAE76FD5143}"/>
              </a:ext>
            </a:extLst>
          </p:cNvPr>
          <p:cNvSpPr txBox="1"/>
          <p:nvPr/>
        </p:nvSpPr>
        <p:spPr>
          <a:xfrm>
            <a:off x="10159915" y="1509379"/>
            <a:ext cx="1645920" cy="424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 dirty="0">
                <a:solidFill>
                  <a:srgbClr val="6F3DE8"/>
                </a:solidFill>
                <a:latin typeface="Nunito Black" pitchFamily="2" charset="-52"/>
              </a:rPr>
              <a:t>12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AA84498-A202-AC4A-E8DA-67BFBD1E1F22}"/>
              </a:ext>
            </a:extLst>
          </p:cNvPr>
          <p:cNvSpPr txBox="1"/>
          <p:nvPr/>
        </p:nvSpPr>
        <p:spPr>
          <a:xfrm>
            <a:off x="10159915" y="2058019"/>
            <a:ext cx="1645920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2B2233"/>
                </a:solidFill>
                <a:latin typeface="Nunito" pitchFamily="2" charset="-52"/>
              </a:rPr>
              <a:t>заданий по 3 темам</a:t>
            </a:r>
          </a:p>
        </p:txBody>
      </p:sp>
      <p:sp>
        <p:nvSpPr>
          <p:cNvPr id="141" name="Rounded Rectangle 57">
            <a:extLst>
              <a:ext uri="{FF2B5EF4-FFF2-40B4-BE49-F238E27FC236}">
                <a16:creationId xmlns:a16="http://schemas.microsoft.com/office/drawing/2014/main" id="{13B84ECC-0329-2592-E14F-A65904079CAB}"/>
              </a:ext>
            </a:extLst>
          </p:cNvPr>
          <p:cNvSpPr/>
          <p:nvPr/>
        </p:nvSpPr>
        <p:spPr>
          <a:xfrm>
            <a:off x="7965356" y="2624947"/>
            <a:ext cx="1874519" cy="1051560"/>
          </a:xfrm>
          <a:prstGeom prst="roundRect">
            <a:avLst>
              <a:gd name="adj" fmla="val 15652"/>
            </a:avLst>
          </a:prstGeom>
          <a:solidFill>
            <a:srgbClr val="ED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F2155E8-37A7-DF3D-9E81-29A6B1D60651}"/>
              </a:ext>
            </a:extLst>
          </p:cNvPr>
          <p:cNvSpPr txBox="1"/>
          <p:nvPr/>
        </p:nvSpPr>
        <p:spPr>
          <a:xfrm>
            <a:off x="8148235" y="2698099"/>
            <a:ext cx="1645920" cy="424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 dirty="0">
                <a:solidFill>
                  <a:srgbClr val="6F3DE8"/>
                </a:solidFill>
                <a:latin typeface="Nunito Black" pitchFamily="2" charset="-52"/>
              </a:rPr>
              <a:t>12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8B02E861-721A-B369-5A6F-7C6B4937F4E7}"/>
              </a:ext>
            </a:extLst>
          </p:cNvPr>
          <p:cNvSpPr txBox="1"/>
          <p:nvPr/>
        </p:nvSpPr>
        <p:spPr>
          <a:xfrm>
            <a:off x="8148235" y="3246739"/>
            <a:ext cx="1645920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2B2233"/>
                </a:solidFill>
                <a:latin typeface="Nunito" pitchFamily="2" charset="-52"/>
              </a:rPr>
              <a:t>товаров двух типов</a:t>
            </a:r>
          </a:p>
        </p:txBody>
      </p:sp>
      <p:sp>
        <p:nvSpPr>
          <p:cNvPr id="147" name="Rounded Rectangle 60">
            <a:extLst>
              <a:ext uri="{FF2B5EF4-FFF2-40B4-BE49-F238E27FC236}">
                <a16:creationId xmlns:a16="http://schemas.microsoft.com/office/drawing/2014/main" id="{DBD5F6F5-A3D2-E2B4-3140-2EDD96171969}"/>
              </a:ext>
            </a:extLst>
          </p:cNvPr>
          <p:cNvSpPr/>
          <p:nvPr/>
        </p:nvSpPr>
        <p:spPr>
          <a:xfrm>
            <a:off x="9977036" y="2624947"/>
            <a:ext cx="1874519" cy="1051560"/>
          </a:xfrm>
          <a:prstGeom prst="roundRect">
            <a:avLst>
              <a:gd name="adj" fmla="val 15652"/>
            </a:avLst>
          </a:prstGeom>
          <a:solidFill>
            <a:srgbClr val="ED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8319870-62F3-0B80-7D97-5D0D44CBCF2C}"/>
              </a:ext>
            </a:extLst>
          </p:cNvPr>
          <p:cNvSpPr txBox="1"/>
          <p:nvPr/>
        </p:nvSpPr>
        <p:spPr>
          <a:xfrm>
            <a:off x="10159915" y="2698099"/>
            <a:ext cx="1645920" cy="424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 dirty="0">
                <a:solidFill>
                  <a:srgbClr val="6F3DE8"/>
                </a:solidFill>
                <a:latin typeface="Nunito Black" pitchFamily="2" charset="-52"/>
              </a:rPr>
              <a:t>4 + </a:t>
            </a:r>
            <a:r>
              <a:rPr sz="2600" b="1" i="0" dirty="0" err="1">
                <a:solidFill>
                  <a:srgbClr val="6F3DE8"/>
                </a:solidFill>
                <a:latin typeface="Nunito Black" pitchFamily="2" charset="-52"/>
              </a:rPr>
              <a:t>своя</a:t>
            </a:r>
            <a:endParaRPr sz="2600" b="1" i="0" dirty="0">
              <a:solidFill>
                <a:srgbClr val="6F3DE8"/>
              </a:solidFill>
              <a:latin typeface="Nunito Black" pitchFamily="2" charset="-52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C30F9952-917D-C9ED-E1A2-761FBD43E207}"/>
              </a:ext>
            </a:extLst>
          </p:cNvPr>
          <p:cNvSpPr txBox="1"/>
          <p:nvPr/>
        </p:nvSpPr>
        <p:spPr>
          <a:xfrm>
            <a:off x="10159915" y="3246739"/>
            <a:ext cx="1645920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2B2233"/>
                </a:solidFill>
                <a:latin typeface="Nunito" pitchFamily="2" charset="-52"/>
              </a:rPr>
              <a:t>цели накопления</a:t>
            </a:r>
          </a:p>
        </p:txBody>
      </p:sp>
      <p:sp>
        <p:nvSpPr>
          <p:cNvPr id="153" name="Rounded Rectangle 63">
            <a:extLst>
              <a:ext uri="{FF2B5EF4-FFF2-40B4-BE49-F238E27FC236}">
                <a16:creationId xmlns:a16="http://schemas.microsoft.com/office/drawing/2014/main" id="{C088C3D4-5B83-BD24-4D9B-14590F4C37F6}"/>
              </a:ext>
            </a:extLst>
          </p:cNvPr>
          <p:cNvSpPr/>
          <p:nvPr/>
        </p:nvSpPr>
        <p:spPr>
          <a:xfrm>
            <a:off x="7965356" y="3875290"/>
            <a:ext cx="3886200" cy="2148840"/>
          </a:xfrm>
          <a:prstGeom prst="roundRect">
            <a:avLst>
              <a:gd name="adj" fmla="val 8510"/>
            </a:avLst>
          </a:prstGeom>
          <a:solidFill>
            <a:srgbClr val="2E1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Nunito" pitchFamily="2" charset="-52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37C950F-F272-4B96-B39D-99EBAED4711E}"/>
              </a:ext>
            </a:extLst>
          </p:cNvPr>
          <p:cNvSpPr txBox="1"/>
          <p:nvPr/>
        </p:nvSpPr>
        <p:spPr>
          <a:xfrm>
            <a:off x="8239676" y="4030738"/>
            <a:ext cx="3474720" cy="27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lang="ru-RU" sz="1700" b="1" i="0" dirty="0">
                <a:solidFill>
                  <a:srgbClr val="FFD76A"/>
                </a:solidFill>
                <a:latin typeface="Nunito Black" pitchFamily="2" charset="-52"/>
              </a:rPr>
              <a:t>Что предстоит сделать</a:t>
            </a:r>
            <a:endParaRPr sz="1700" b="1" i="0" dirty="0">
              <a:solidFill>
                <a:srgbClr val="FFD76A"/>
              </a:solidFill>
              <a:latin typeface="Nunito Black" pitchFamily="2" charset="-52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4DA44CF-3321-A53C-A0D2-127978FE5D20}"/>
              </a:ext>
            </a:extLst>
          </p:cNvPr>
          <p:cNvSpPr txBox="1"/>
          <p:nvPr/>
        </p:nvSpPr>
        <p:spPr>
          <a:xfrm>
            <a:off x="8239676" y="4515370"/>
            <a:ext cx="3474720" cy="1008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19456" indent="-219456">
              <a:lnSpc>
                <a:spcPct val="108000"/>
              </a:lnSpc>
              <a:spcAft>
                <a:spcPts val="300"/>
              </a:spcAft>
              <a:buClr>
                <a:srgbClr val="FFD76A"/>
              </a:buClr>
              <a:buSzPct val="110000"/>
              <a:buFont typeface="Arial"/>
              <a:buChar char="•"/>
            </a:pPr>
            <a:r>
              <a:rPr lang="ru-RU" sz="1350" dirty="0">
                <a:solidFill>
                  <a:srgbClr val="FFFFFF"/>
                </a:solidFill>
                <a:latin typeface="Nunito" pitchFamily="2" charset="-52"/>
              </a:rPr>
              <a:t>добавление покупок в комнату</a:t>
            </a:r>
            <a:endParaRPr sz="1350" b="0" dirty="0">
              <a:solidFill>
                <a:srgbClr val="FFFFFF"/>
              </a:solidFill>
              <a:latin typeface="Nunito" pitchFamily="2" charset="-52"/>
            </a:endParaRPr>
          </a:p>
          <a:p>
            <a:pPr marL="219456" indent="-219456">
              <a:lnSpc>
                <a:spcPct val="108000"/>
              </a:lnSpc>
              <a:spcAft>
                <a:spcPts val="300"/>
              </a:spcAft>
              <a:buClr>
                <a:srgbClr val="FFD76A"/>
              </a:buClr>
              <a:buSzPct val="110000"/>
              <a:buFont typeface="Arial"/>
              <a:buChar char="•"/>
            </a:pPr>
            <a:r>
              <a:rPr lang="ru-RU" sz="1350" dirty="0">
                <a:solidFill>
                  <a:srgbClr val="FFFFFF"/>
                </a:solidFill>
                <a:latin typeface="Nunito" pitchFamily="2" charset="-52"/>
              </a:rPr>
              <a:t>д</a:t>
            </a:r>
            <a:r>
              <a:rPr lang="ru-RU" sz="1350" b="0" dirty="0">
                <a:solidFill>
                  <a:srgbClr val="FFFFFF"/>
                </a:solidFill>
                <a:latin typeface="Nunito" pitchFamily="2" charset="-52"/>
              </a:rPr>
              <a:t>обавление контента</a:t>
            </a:r>
            <a:endParaRPr sz="1350" b="0" dirty="0">
              <a:solidFill>
                <a:srgbClr val="FFFFFF"/>
              </a:solidFill>
              <a:latin typeface="Nunito" pitchFamily="2" charset="-52"/>
            </a:endParaRPr>
          </a:p>
          <a:p>
            <a:pPr marL="219456" indent="-219456">
              <a:lnSpc>
                <a:spcPct val="108000"/>
              </a:lnSpc>
              <a:spcAft>
                <a:spcPts val="300"/>
              </a:spcAft>
              <a:buClr>
                <a:srgbClr val="FFD76A"/>
              </a:buClr>
              <a:buSzPct val="110000"/>
              <a:buFont typeface="Arial"/>
              <a:buChar char="•"/>
            </a:pPr>
            <a:r>
              <a:rPr lang="ru-RU" sz="1350" dirty="0">
                <a:solidFill>
                  <a:srgbClr val="FFFFFF"/>
                </a:solidFill>
                <a:latin typeface="Nunito" pitchFamily="2" charset="-52"/>
              </a:rPr>
              <a:t>разная сложность для 7 и 11 лет</a:t>
            </a:r>
            <a:endParaRPr sz="1350" b="0" dirty="0">
              <a:solidFill>
                <a:srgbClr val="FFFFFF"/>
              </a:solidFill>
              <a:latin typeface="Nunito" pitchFamily="2" charset="-52"/>
            </a:endParaRPr>
          </a:p>
          <a:p>
            <a:pPr marL="219456" indent="-219456">
              <a:lnSpc>
                <a:spcPct val="108000"/>
              </a:lnSpc>
              <a:spcAft>
                <a:spcPts val="300"/>
              </a:spcAft>
              <a:buClr>
                <a:srgbClr val="FFD76A"/>
              </a:buClr>
              <a:buSzPct val="110000"/>
              <a:buFont typeface="Arial"/>
              <a:buChar char="•"/>
            </a:pPr>
            <a:r>
              <a:rPr lang="ru-RU" sz="1350" dirty="0">
                <a:solidFill>
                  <a:srgbClr val="FFFFFF"/>
                </a:solidFill>
                <a:latin typeface="Nunito" pitchFamily="2" charset="-52"/>
              </a:rPr>
              <a:t>возможность резервной копии</a:t>
            </a:r>
            <a:endParaRPr sz="1350" b="0" dirty="0">
              <a:solidFill>
                <a:srgbClr val="FFFFFF"/>
              </a:solidFill>
              <a:latin typeface="Nunito" pitchFamily="2" charset="-52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BD80234-B467-8EDC-DB47-B0772D0077DF}"/>
              </a:ext>
            </a:extLst>
          </p:cNvPr>
          <p:cNvSpPr txBox="1">
            <a:spLocks/>
          </p:cNvSpPr>
          <p:nvPr/>
        </p:nvSpPr>
        <p:spPr>
          <a:xfrm>
            <a:off x="498697" y="5818502"/>
            <a:ext cx="6261239" cy="91051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C9B3FF"/>
                </a:solidFill>
              </a:rPr>
              <a:t>Все обязательные требования ТЗ закрыты</a:t>
            </a:r>
          </a:p>
        </p:txBody>
      </p:sp>
      <p:sp>
        <p:nvSpPr>
          <p:cNvPr id="4" name="Номер слайда 20">
            <a:extLst>
              <a:ext uri="{FF2B5EF4-FFF2-40B4-BE49-F238E27FC236}">
                <a16:creationId xmlns:a16="http://schemas.microsoft.com/office/drawing/2014/main" id="{075A2A62-E19D-4245-6775-93B1B01381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321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360000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ИНТЕРФЕЙС ДЛЯ 7–11 ЛЕТ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3999" y="1224000"/>
            <a:ext cx="6120000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dirty="0" err="1">
                <a:solidFill>
                  <a:srgbClr val="C9B3FF"/>
                </a:solidFill>
              </a:rPr>
              <a:t>Главный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экран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отвечает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на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три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вопроса</a:t>
            </a:r>
            <a:r>
              <a:rPr b="1" dirty="0">
                <a:solidFill>
                  <a:srgbClr val="C9B3FF"/>
                </a:solidFill>
              </a:rPr>
              <a:t>.</a:t>
            </a:r>
            <a:r>
              <a:rPr dirty="0">
                <a:solidFill>
                  <a:srgbClr val="FFFFFF"/>
                </a:solidFill>
              </a:rPr>
              <a:t>  </a:t>
            </a:r>
            <a:r>
              <a:rPr dirty="0" err="1">
                <a:solidFill>
                  <a:srgbClr val="FFFFFF"/>
                </a:solidFill>
              </a:rPr>
              <a:t>Как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себя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чувствует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питомец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что</a:t>
            </a:r>
            <a:r>
              <a:rPr dirty="0">
                <a:solidFill>
                  <a:srgbClr val="FFFFFF"/>
                </a:solidFill>
              </a:rPr>
              <a:t> с </a:t>
            </a:r>
            <a:r>
              <a:rPr dirty="0" err="1">
                <a:solidFill>
                  <a:srgbClr val="FFFFFF"/>
                </a:solidFill>
              </a:rPr>
              <a:t>деньгами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что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сделать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сейчас</a:t>
            </a:r>
            <a:r>
              <a:rPr dirty="0">
                <a:solidFill>
                  <a:srgbClr val="FFFFFF"/>
                </a:solidFill>
              </a:rPr>
              <a:t> – </a:t>
            </a:r>
            <a:r>
              <a:rPr dirty="0" err="1">
                <a:solidFill>
                  <a:srgbClr val="FFFFFF"/>
                </a:solidFill>
              </a:rPr>
              <a:t>без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прокрутки</a:t>
            </a:r>
            <a:r>
              <a:rPr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b="1" dirty="0" err="1">
                <a:solidFill>
                  <a:srgbClr val="C9B3FF"/>
                </a:solidFill>
              </a:rPr>
              <a:t>Язык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по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возрасту</a:t>
            </a:r>
            <a:r>
              <a:rPr b="1" dirty="0">
                <a:solidFill>
                  <a:srgbClr val="C9B3FF"/>
                </a:solidFill>
              </a:rPr>
              <a:t>.</a:t>
            </a:r>
            <a:r>
              <a:rPr dirty="0">
                <a:solidFill>
                  <a:srgbClr val="FFFFFF"/>
                </a:solidFill>
              </a:rPr>
              <a:t>  Короткие </a:t>
            </a:r>
            <a:r>
              <a:rPr dirty="0" err="1">
                <a:solidFill>
                  <a:srgbClr val="FFFFFF"/>
                </a:solidFill>
              </a:rPr>
              <a:t>фразы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круглые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суммы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счёт</a:t>
            </a:r>
            <a:r>
              <a:rPr dirty="0">
                <a:solidFill>
                  <a:srgbClr val="FFFFFF"/>
                </a:solidFill>
              </a:rPr>
              <a:t> в </a:t>
            </a:r>
            <a:r>
              <a:rPr dirty="0" err="1">
                <a:solidFill>
                  <a:srgbClr val="FFFFFF"/>
                </a:solidFill>
              </a:rPr>
              <a:t>пределах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сотен</a:t>
            </a:r>
            <a:r>
              <a:rPr dirty="0">
                <a:solidFill>
                  <a:srgbClr val="FFFFFF"/>
                </a:solidFill>
              </a:rPr>
              <a:t>. </a:t>
            </a:r>
            <a:r>
              <a:rPr dirty="0" err="1">
                <a:solidFill>
                  <a:srgbClr val="FFFFFF"/>
                </a:solidFill>
              </a:rPr>
              <a:t>Слово</a:t>
            </a:r>
            <a:r>
              <a:rPr dirty="0">
                <a:solidFill>
                  <a:srgbClr val="FFFFFF"/>
                </a:solidFill>
              </a:rPr>
              <a:t> «</a:t>
            </a:r>
            <a:r>
              <a:rPr dirty="0" err="1">
                <a:solidFill>
                  <a:srgbClr val="FFFFFF"/>
                </a:solidFill>
              </a:rPr>
              <a:t>период</a:t>
            </a:r>
            <a:r>
              <a:rPr dirty="0">
                <a:solidFill>
                  <a:srgbClr val="FFFFFF"/>
                </a:solidFill>
              </a:rPr>
              <a:t>» </a:t>
            </a:r>
            <a:r>
              <a:rPr dirty="0" err="1">
                <a:solidFill>
                  <a:srgbClr val="FFFFFF"/>
                </a:solidFill>
              </a:rPr>
              <a:t>дети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поняли</a:t>
            </a:r>
            <a:r>
              <a:rPr dirty="0">
                <a:solidFill>
                  <a:srgbClr val="FFFFFF"/>
                </a:solidFill>
              </a:rPr>
              <a:t> – </a:t>
            </a:r>
            <a:r>
              <a:rPr dirty="0" err="1">
                <a:solidFill>
                  <a:srgbClr val="FFFFFF"/>
                </a:solidFill>
              </a:rPr>
              <a:t>везде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стало</a:t>
            </a:r>
            <a:r>
              <a:rPr dirty="0">
                <a:solidFill>
                  <a:srgbClr val="FFFFFF"/>
                </a:solidFill>
              </a:rPr>
              <a:t> «</a:t>
            </a:r>
            <a:r>
              <a:rPr dirty="0" err="1">
                <a:solidFill>
                  <a:srgbClr val="FFFFFF"/>
                </a:solidFill>
              </a:rPr>
              <a:t>неделя</a:t>
            </a:r>
            <a:r>
              <a:rPr dirty="0">
                <a:solidFill>
                  <a:srgbClr val="FFFFFF"/>
                </a:solidFill>
              </a:rPr>
              <a:t>».</a:t>
            </a:r>
          </a:p>
          <a:p>
            <a:pPr>
              <a:spcAft>
                <a:spcPts val="1200"/>
              </a:spcAft>
            </a:pPr>
            <a:r>
              <a:rPr b="1" dirty="0" err="1">
                <a:solidFill>
                  <a:srgbClr val="C9B3FF"/>
                </a:solidFill>
              </a:rPr>
              <a:t>Тексты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не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угадывают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пол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ребёнка</a:t>
            </a:r>
            <a:r>
              <a:rPr b="1" dirty="0">
                <a:solidFill>
                  <a:srgbClr val="C9B3FF"/>
                </a:solidFill>
              </a:rPr>
              <a:t>.</a:t>
            </a:r>
            <a:r>
              <a:rPr dirty="0">
                <a:solidFill>
                  <a:srgbClr val="FFFFFF"/>
                </a:solidFill>
              </a:rPr>
              <a:t>  </a:t>
            </a:r>
            <a:r>
              <a:rPr dirty="0" err="1">
                <a:solidFill>
                  <a:srgbClr val="FFFFFF"/>
                </a:solidFill>
              </a:rPr>
              <a:t>Не</a:t>
            </a:r>
            <a:r>
              <a:rPr dirty="0">
                <a:solidFill>
                  <a:srgbClr val="FFFFFF"/>
                </a:solidFill>
              </a:rPr>
              <a:t> «</a:t>
            </a:r>
            <a:r>
              <a:rPr dirty="0" err="1">
                <a:solidFill>
                  <a:srgbClr val="FFFFFF"/>
                </a:solidFill>
              </a:rPr>
              <a:t>ты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накопил</a:t>
            </a:r>
            <a:r>
              <a:rPr dirty="0">
                <a:solidFill>
                  <a:srgbClr val="FFFFFF"/>
                </a:solidFill>
              </a:rPr>
              <a:t>», а «</a:t>
            </a:r>
            <a:r>
              <a:rPr dirty="0" err="1">
                <a:solidFill>
                  <a:srgbClr val="FFFFFF"/>
                </a:solidFill>
              </a:rPr>
              <a:t>накоплено</a:t>
            </a:r>
            <a:r>
              <a:rPr dirty="0">
                <a:solidFill>
                  <a:srgbClr val="FFFFFF"/>
                </a:solidFill>
              </a:rPr>
              <a:t>». </a:t>
            </a:r>
            <a:r>
              <a:rPr dirty="0" err="1">
                <a:solidFill>
                  <a:srgbClr val="FFFFFF"/>
                </a:solidFill>
              </a:rPr>
              <a:t>Самые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частые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обороты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ловит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автотест</a:t>
            </a:r>
            <a:r>
              <a:rPr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b="1" dirty="0" err="1">
                <a:solidFill>
                  <a:srgbClr val="C9B3FF"/>
                </a:solidFill>
              </a:rPr>
              <a:t>Ошибка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без</a:t>
            </a:r>
            <a:r>
              <a:rPr b="1" dirty="0">
                <a:solidFill>
                  <a:srgbClr val="C9B3FF"/>
                </a:solidFill>
              </a:rPr>
              <a:t> </a:t>
            </a:r>
            <a:r>
              <a:rPr b="1" dirty="0" err="1">
                <a:solidFill>
                  <a:srgbClr val="C9B3FF"/>
                </a:solidFill>
              </a:rPr>
              <a:t>наказания</a:t>
            </a:r>
            <a:r>
              <a:rPr b="1" dirty="0">
                <a:solidFill>
                  <a:srgbClr val="C9B3FF"/>
                </a:solidFill>
              </a:rPr>
              <a:t>.</a:t>
            </a:r>
            <a:r>
              <a:rPr dirty="0">
                <a:solidFill>
                  <a:srgbClr val="FFFFFF"/>
                </a:solidFill>
              </a:rPr>
              <a:t>  </a:t>
            </a:r>
            <a:r>
              <a:rPr dirty="0" err="1">
                <a:solidFill>
                  <a:srgbClr val="FFFFFF"/>
                </a:solidFill>
              </a:rPr>
              <a:t>Игра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объясняет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что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произошло</a:t>
            </a:r>
            <a:r>
              <a:rPr dirty="0">
                <a:solidFill>
                  <a:srgbClr val="FFFFFF"/>
                </a:solidFill>
              </a:rPr>
              <a:t>, и </a:t>
            </a:r>
            <a:r>
              <a:rPr dirty="0" err="1">
                <a:solidFill>
                  <a:srgbClr val="FFFFFF"/>
                </a:solidFill>
              </a:rPr>
              <a:t>подсказывает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следующий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шаг</a:t>
            </a:r>
            <a:r>
              <a:rPr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1200"/>
              </a:spcAft>
            </a:pPr>
            <a:r>
              <a:rPr b="1" dirty="0" err="1">
                <a:solidFill>
                  <a:srgbClr val="C9B3FF"/>
                </a:solidFill>
              </a:rPr>
              <a:t>Доступность</a:t>
            </a:r>
            <a:r>
              <a:rPr b="1" dirty="0">
                <a:solidFill>
                  <a:srgbClr val="C9B3FF"/>
                </a:solidFill>
              </a:rPr>
              <a:t>.</a:t>
            </a:r>
            <a:r>
              <a:rPr dirty="0">
                <a:solidFill>
                  <a:srgbClr val="FFFFFF"/>
                </a:solidFill>
              </a:rPr>
              <a:t>  </a:t>
            </a:r>
            <a:r>
              <a:rPr dirty="0" err="1">
                <a:solidFill>
                  <a:srgbClr val="FFFFFF"/>
                </a:solidFill>
              </a:rPr>
              <a:t>Крупный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текст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отключаемые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анимации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цель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нажатия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</a:t>
            </a:r>
            <a:r>
              <a:rPr dirty="0">
                <a:solidFill>
                  <a:srgbClr val="FFFFFF"/>
                </a:solidFill>
              </a:rPr>
              <a:t> 48 </a:t>
            </a:r>
            <a:r>
              <a:rPr dirty="0" err="1">
                <a:solidFill>
                  <a:srgbClr val="FFFFFF"/>
                </a:solidFill>
              </a:rPr>
              <a:t>px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состояние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передаётся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только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цветом</a:t>
            </a:r>
            <a:r>
              <a:rPr dirty="0">
                <a:solidFill>
                  <a:srgbClr val="FFFFFF"/>
                </a:solidFill>
              </a:rPr>
              <a:t>.</a:t>
            </a:r>
          </a:p>
        </p:txBody>
      </p:sp>
      <p:pic>
        <p:nvPicPr>
          <p:cNvPr id="4" name="Picture 3" descr="splash.png"/>
          <p:cNvPicPr>
            <a:picLocks noChangeAspect="1"/>
          </p:cNvPicPr>
          <p:nvPr/>
        </p:nvPicPr>
        <p:blipFill>
          <a:blip r:embed="rId2"/>
          <a:srcRect l="238" r="-238" b="16227"/>
          <a:stretch>
            <a:fillRect/>
          </a:stretch>
        </p:blipFill>
        <p:spPr>
          <a:xfrm>
            <a:off x="7684468" y="955439"/>
            <a:ext cx="3726861" cy="5546961"/>
          </a:xfrm>
          <a:prstGeom prst="rect">
            <a:avLst/>
          </a:prstGeom>
        </p:spPr>
      </p:pic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F66AAF26-D3CB-2EF5-C789-91C5D13E7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360000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АРХИТЕКТУРА, СТЕК И ДАННЫЕ</a:t>
            </a:r>
          </a:p>
        </p:txBody>
      </p:sp>
      <p:pic>
        <p:nvPicPr>
          <p:cNvPr id="3" name="Picture 2" descr="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99" y="1440000"/>
            <a:ext cx="6480000" cy="369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88000" y="1224000"/>
            <a:ext cx="4248000" cy="42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Стек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React 18 и TypeScript, </a:t>
            </a:r>
            <a:r>
              <a:rPr sz="1400" dirty="0" err="1">
                <a:solidFill>
                  <a:srgbClr val="FFFFFF"/>
                </a:solidFill>
              </a:rPr>
              <a:t>сборка</a:t>
            </a:r>
            <a:r>
              <a:rPr sz="1400" dirty="0">
                <a:solidFill>
                  <a:srgbClr val="FFFFFF"/>
                </a:solidFill>
              </a:rPr>
              <a:t> Vite, </a:t>
            </a:r>
            <a:r>
              <a:rPr sz="1400" dirty="0" err="1">
                <a:solidFill>
                  <a:srgbClr val="FFFFFF"/>
                </a:solidFill>
              </a:rPr>
              <a:t>упаковка</a:t>
            </a:r>
            <a:r>
              <a:rPr sz="1400" dirty="0">
                <a:solidFill>
                  <a:srgbClr val="FFFFFF"/>
                </a:solidFill>
              </a:rPr>
              <a:t> в Android </a:t>
            </a:r>
            <a:r>
              <a:rPr sz="1400" dirty="0" err="1">
                <a:solidFill>
                  <a:srgbClr val="FFFFFF"/>
                </a:solidFill>
              </a:rPr>
              <a:t>через</a:t>
            </a:r>
            <a:r>
              <a:rPr sz="1400" dirty="0">
                <a:solidFill>
                  <a:srgbClr val="FFFFFF"/>
                </a:solidFill>
              </a:rPr>
              <a:t> Capacitor</a:t>
            </a:r>
          </a:p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Слои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Учебный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контент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отдельно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от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игровой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экономики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экономика</a:t>
            </a:r>
            <a:r>
              <a:rPr sz="1400" dirty="0">
                <a:solidFill>
                  <a:srgbClr val="FFFFFF"/>
                </a:solidFill>
              </a:rPr>
              <a:t> – </a:t>
            </a:r>
            <a:r>
              <a:rPr sz="1400" dirty="0" err="1">
                <a:solidFill>
                  <a:srgbClr val="FFFFFF"/>
                </a:solidFill>
              </a:rPr>
              <a:t>отдельно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от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интерфейса</a:t>
            </a:r>
            <a:endParaRPr sz="1400" dirty="0">
              <a:solidFill>
                <a:srgbClr val="FFFFFF"/>
              </a:solidFill>
            </a:endParaRPr>
          </a:p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Чистая</a:t>
            </a:r>
            <a:r>
              <a:rPr sz="1400" b="1" dirty="0">
                <a:solidFill>
                  <a:srgbClr val="C9B3FF"/>
                </a:solidFill>
              </a:rPr>
              <a:t> </a:t>
            </a:r>
            <a:r>
              <a:rPr sz="1400" b="1" dirty="0" err="1">
                <a:solidFill>
                  <a:srgbClr val="C9B3FF"/>
                </a:solidFill>
              </a:rPr>
              <a:t>экономика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Все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расчёты</a:t>
            </a:r>
            <a:r>
              <a:rPr sz="1400" dirty="0">
                <a:solidFill>
                  <a:srgbClr val="FFFFFF"/>
                </a:solidFill>
              </a:rPr>
              <a:t> – </a:t>
            </a:r>
            <a:r>
              <a:rPr sz="1400" dirty="0" err="1">
                <a:solidFill>
                  <a:srgbClr val="FFFFFF"/>
                </a:solidFill>
              </a:rPr>
              <a:t>чистые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функции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без</a:t>
            </a:r>
            <a:r>
              <a:rPr sz="1400" dirty="0">
                <a:solidFill>
                  <a:srgbClr val="FFFFFF"/>
                </a:solidFill>
              </a:rPr>
              <a:t> React и </a:t>
            </a:r>
            <a:r>
              <a:rPr sz="1400" dirty="0" err="1">
                <a:solidFill>
                  <a:srgbClr val="FFFFFF"/>
                </a:solidFill>
              </a:rPr>
              <a:t>хранилища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поэтому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их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проверяют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автотесты</a:t>
            </a:r>
            <a:endParaRPr sz="1400" dirty="0">
              <a:solidFill>
                <a:srgbClr val="FFFFFF"/>
              </a:solidFill>
            </a:endParaRPr>
          </a:p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Данные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Один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профиль</a:t>
            </a:r>
            <a:r>
              <a:rPr sz="1400" dirty="0">
                <a:solidFill>
                  <a:srgbClr val="FFFFFF"/>
                </a:solidFill>
              </a:rPr>
              <a:t> в </a:t>
            </a:r>
            <a:r>
              <a:rPr sz="1400" dirty="0" err="1">
                <a:solidFill>
                  <a:srgbClr val="FFFFFF"/>
                </a:solidFill>
              </a:rPr>
              <a:t>памяти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устройства</a:t>
            </a:r>
            <a:r>
              <a:rPr sz="1400" dirty="0">
                <a:solidFill>
                  <a:srgbClr val="FFFFFF"/>
                </a:solidFill>
              </a:rPr>
              <a:t>. </a:t>
            </a:r>
            <a:r>
              <a:rPr sz="1400" dirty="0" err="1">
                <a:solidFill>
                  <a:srgbClr val="FFFFFF"/>
                </a:solidFill>
              </a:rPr>
              <a:t>Сервера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нет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аккаунт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не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нужен</a:t>
            </a:r>
            <a:endParaRPr sz="1400" dirty="0">
              <a:solidFill>
                <a:srgbClr val="FFFFFF"/>
              </a:solidFill>
            </a:endParaRPr>
          </a:p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Обновление</a:t>
            </a:r>
            <a:r>
              <a:rPr sz="1400" b="1" dirty="0">
                <a:solidFill>
                  <a:srgbClr val="C9B3FF"/>
                </a:solidFill>
              </a:rPr>
              <a:t> </a:t>
            </a:r>
            <a:r>
              <a:rPr sz="1400" b="1" dirty="0" err="1">
                <a:solidFill>
                  <a:srgbClr val="C9B3FF"/>
                </a:solidFill>
              </a:rPr>
              <a:t>контента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Задания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товары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цели</a:t>
            </a:r>
            <a:r>
              <a:rPr sz="1400" dirty="0">
                <a:solidFill>
                  <a:srgbClr val="FFFFFF"/>
                </a:solidFill>
              </a:rPr>
              <a:t> и </a:t>
            </a:r>
            <a:r>
              <a:rPr sz="1400" dirty="0" err="1">
                <a:solidFill>
                  <a:srgbClr val="FFFFFF"/>
                </a:solidFill>
              </a:rPr>
              <a:t>события</a:t>
            </a:r>
            <a:r>
              <a:rPr sz="1400" dirty="0">
                <a:solidFill>
                  <a:srgbClr val="FFFFFF"/>
                </a:solidFill>
              </a:rPr>
              <a:t> – </a:t>
            </a:r>
            <a:r>
              <a:rPr sz="1400" dirty="0" err="1">
                <a:solidFill>
                  <a:srgbClr val="FFFFFF"/>
                </a:solidFill>
              </a:rPr>
              <a:t>данные</a:t>
            </a:r>
            <a:r>
              <a:rPr sz="1400" dirty="0">
                <a:solidFill>
                  <a:srgbClr val="FFFFFF"/>
                </a:solidFill>
              </a:rPr>
              <a:t> в </a:t>
            </a:r>
            <a:r>
              <a:rPr sz="1400" dirty="0" err="1">
                <a:solidFill>
                  <a:srgbClr val="FFFFFF"/>
                </a:solidFill>
              </a:rPr>
              <a:t>отдельных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файлах</a:t>
            </a:r>
            <a:r>
              <a:rPr sz="1400" dirty="0">
                <a:solidFill>
                  <a:srgbClr val="FFFFFF"/>
                </a:solidFill>
              </a:rPr>
              <a:t>: </a:t>
            </a:r>
            <a:r>
              <a:rPr sz="1400" dirty="0" err="1">
                <a:solidFill>
                  <a:srgbClr val="FFFFFF"/>
                </a:solidFill>
              </a:rPr>
              <a:t>новый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контент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добавляется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без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переделки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приложения</a:t>
            </a:r>
            <a:endParaRPr sz="1400" dirty="0">
              <a:solidFill>
                <a:srgbClr val="FFFFFF"/>
              </a:solidFill>
            </a:endParaRPr>
          </a:p>
          <a:p>
            <a:pPr>
              <a:spcAft>
                <a:spcPts val="1100"/>
              </a:spcAft>
            </a:pPr>
            <a:r>
              <a:rPr sz="1400" b="1" dirty="0" err="1">
                <a:solidFill>
                  <a:srgbClr val="C9B3FF"/>
                </a:solidFill>
              </a:rPr>
              <a:t>Разрешения</a:t>
            </a:r>
            <a:r>
              <a:rPr sz="1400" b="1" dirty="0">
                <a:solidFill>
                  <a:srgbClr val="C9B3FF"/>
                </a:solidFill>
              </a:rPr>
              <a:t>.</a:t>
            </a:r>
            <a:r>
              <a:rPr sz="1400" dirty="0">
                <a:solidFill>
                  <a:srgbClr val="FFFFFF"/>
                </a:solidFill>
              </a:rPr>
              <a:t>  </a:t>
            </a:r>
            <a:r>
              <a:rPr sz="1400" dirty="0" err="1">
                <a:solidFill>
                  <a:srgbClr val="FFFFFF"/>
                </a:solidFill>
              </a:rPr>
              <a:t>Ни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одного</a:t>
            </a:r>
            <a:r>
              <a:rPr sz="1400" dirty="0">
                <a:solidFill>
                  <a:srgbClr val="FFFFFF"/>
                </a:solidFill>
              </a:rPr>
              <a:t>: </a:t>
            </a:r>
            <a:r>
              <a:rPr sz="1400" dirty="0" err="1">
                <a:solidFill>
                  <a:srgbClr val="FFFFFF"/>
                </a:solidFill>
              </a:rPr>
              <a:t>ни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камеры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ни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памяти</a:t>
            </a:r>
            <a:r>
              <a:rPr sz="1400" dirty="0">
                <a:solidFill>
                  <a:srgbClr val="FFFFFF"/>
                </a:solidFill>
              </a:rPr>
              <a:t>, </a:t>
            </a:r>
            <a:r>
              <a:rPr sz="1400" dirty="0" err="1">
                <a:solidFill>
                  <a:srgbClr val="FFFFFF"/>
                </a:solidFill>
              </a:rPr>
              <a:t>ни</a:t>
            </a:r>
            <a:r>
              <a:rPr sz="1400" dirty="0">
                <a:solidFill>
                  <a:srgbClr val="FFFFFF"/>
                </a:solidFill>
              </a:rPr>
              <a:t> </a:t>
            </a:r>
            <a:r>
              <a:rPr sz="1400" dirty="0" err="1">
                <a:solidFill>
                  <a:srgbClr val="FFFFFF"/>
                </a:solidFill>
              </a:rPr>
              <a:t>геолокации</a:t>
            </a:r>
            <a:endParaRPr sz="1400" dirty="0">
              <a:solidFill>
                <a:srgbClr val="FFFFFF"/>
              </a:solidFill>
            </a:endParaRPr>
          </a:p>
        </p:txBody>
      </p:sp>
      <p:sp>
        <p:nvSpPr>
          <p:cNvPr id="5" name="Номер слайда 20">
            <a:extLst>
              <a:ext uri="{FF2B5EF4-FFF2-40B4-BE49-F238E27FC236}">
                <a16:creationId xmlns:a16="http://schemas.microsoft.com/office/drawing/2014/main" id="{076E9BB4-24A3-1A2F-AA53-216C0DA11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360000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ЧТО ПРОВЕРИЛИ И 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1434102"/>
            <a:ext cx="345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9B3FF"/>
                </a:solidFill>
              </a:rPr>
              <a:t>154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2298101"/>
            <a:ext cx="345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автотеста на экономику,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задания и тексты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6001" y="1434102"/>
            <a:ext cx="345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9B3FF"/>
                </a:solidFill>
              </a:rPr>
              <a:t>2 круга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6001" y="2298101"/>
            <a:ext cx="345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проверки с детьми: двое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дома и класс в школе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0" y="1434102"/>
            <a:ext cx="345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9B3FF"/>
                </a:solidFill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2298101"/>
            <a:ext cx="345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разрешений Android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и собранных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3450102"/>
            <a:ext cx="558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B3FF"/>
                </a:solidFill>
              </a:rPr>
              <a:t>Что показала проверка с детьми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882102"/>
            <a:ext cx="5580000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Слово «период» дети не понимали – заменили на «неделю» и добавили термин в финсловарь.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Цель держит внимание: дети подходили к учителю показать результат – «я все задания прошёл, вот палатка у меня есть».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Веб-версия удобнее APK для класса: открывается по ссылке сразу на нескольких устройствах.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0" y="3450102"/>
            <a:ext cx="507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B3FF"/>
                </a:solidFill>
              </a:rPr>
              <a:t>Ограничения и план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3882102"/>
            <a:ext cx="5076000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Контента хватает на пять-шесть недель игры – дальше нужен новый.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Прогресс живёт только на устройстве: переноса между телефонами нет.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</a:rPr>
              <a:t>•  Дальше: расширить проверку с детьми, два уровня сложности для 7–8 и 9–11 лет, реакции питомца и покупки, которые видно в комнате.</a:t>
            </a:r>
          </a:p>
        </p:txBody>
      </p:sp>
      <p:sp>
        <p:nvSpPr>
          <p:cNvPr id="13" name="Номер слайда 20">
            <a:extLst>
              <a:ext uri="{FF2B5EF4-FFF2-40B4-BE49-F238E27FC236}">
                <a16:creationId xmlns:a16="http://schemas.microsoft.com/office/drawing/2014/main" id="{1C7983BD-1ECE-727E-5008-77AA084E8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3710" y="389183"/>
            <a:ext cx="64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ССЫЛКИ И СБОРКА</a:t>
            </a:r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6700" y="1565939"/>
            <a:ext cx="2088000" cy="208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06700" y="3869939"/>
            <a:ext cx="35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Питомец Финни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06700" y="4373939"/>
            <a:ext cx="35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CFE4"/>
                </a:solidFill>
              </a:rPr>
              <a:t>версия 1.1, сборка 2</a:t>
            </a:r>
          </a:p>
          <a:p>
            <a:pPr algn="ctr"/>
            <a:r>
              <a:rPr sz="1200" b="0">
                <a:solidFill>
                  <a:srgbClr val="D6CFE4"/>
                </a:solidFill>
              </a:rPr>
              <a:t>пакет ru.finni.pet</a:t>
            </a:r>
          </a:p>
          <a:p>
            <a:pPr algn="ctr"/>
            <a:r>
              <a:rPr sz="1200" b="0">
                <a:solidFill>
                  <a:srgbClr val="D6CFE4"/>
                </a:solidFill>
              </a:rPr>
              <a:t>Android 5.1 и новее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DB1CAE-7E88-75B5-A9D3-1D43C2C3A4A3}"/>
              </a:ext>
            </a:extLst>
          </p:cNvPr>
          <p:cNvSpPr txBox="1"/>
          <p:nvPr/>
        </p:nvSpPr>
        <p:spPr>
          <a:xfrm>
            <a:off x="800487" y="1613545"/>
            <a:ext cx="5665390" cy="5269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lang="ru-RU" sz="1600" b="1" i="0" dirty="0">
                <a:solidFill>
                  <a:schemeClr val="bg1"/>
                </a:solidFill>
                <a:latin typeface="Nunito Black" pitchFamily="2" charset="-52"/>
              </a:rPr>
              <a:t>Репозиторий</a:t>
            </a:r>
            <a:r>
              <a:rPr sz="1600" b="1" i="0" dirty="0">
                <a:solidFill>
                  <a:schemeClr val="bg1"/>
                </a:solidFill>
                <a:latin typeface="Nunito Black" pitchFamily="2" charset="-52"/>
              </a:rPr>
              <a:t>: </a:t>
            </a:r>
            <a:endParaRPr lang="ru-RU" sz="1600" b="1" i="0" dirty="0">
              <a:solidFill>
                <a:schemeClr val="bg1"/>
              </a:solidFill>
              <a:latin typeface="Nunito Black" pitchFamily="2" charset="-52"/>
            </a:endParaRPr>
          </a:p>
          <a:p>
            <a:pPr>
              <a:lnSpc>
                <a:spcPct val="108000"/>
              </a:lnSpc>
            </a:pPr>
            <a:r>
              <a:rPr lang="en-US" sz="1600" dirty="0">
                <a:solidFill>
                  <a:schemeClr val="bg1"/>
                </a:solidFill>
                <a:latin typeface="Nunito Sans SemiBold" pitchFamily="2" charset="-52"/>
              </a:rPr>
              <a:t>https://github.com/AnnaKotlova111/CtrlAltWin_Finni</a:t>
            </a:r>
            <a:endParaRPr sz="1600" dirty="0">
              <a:solidFill>
                <a:schemeClr val="bg1"/>
              </a:solidFill>
              <a:latin typeface="Nunito Sans SemiBold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3ECF0-EB3B-C45D-810A-8700D71E256D}"/>
              </a:ext>
            </a:extLst>
          </p:cNvPr>
          <p:cNvSpPr txBox="1"/>
          <p:nvPr/>
        </p:nvSpPr>
        <p:spPr>
          <a:xfrm>
            <a:off x="800486" y="2429702"/>
            <a:ext cx="5939709" cy="7928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lang="ru-RU" sz="1600" b="1" i="0" dirty="0">
                <a:solidFill>
                  <a:schemeClr val="bg1"/>
                </a:solidFill>
                <a:latin typeface="Nunito Black" pitchFamily="2" charset="-52"/>
              </a:rPr>
              <a:t>Сборка</a:t>
            </a:r>
            <a:r>
              <a:rPr sz="1600" b="1" i="0" dirty="0">
                <a:solidFill>
                  <a:schemeClr val="bg1"/>
                </a:solidFill>
                <a:latin typeface="Nunito Black" pitchFamily="2" charset="-52"/>
              </a:rPr>
              <a:t>: </a:t>
            </a:r>
            <a:endParaRPr lang="ru-RU" sz="1600" b="1" i="0" dirty="0">
              <a:solidFill>
                <a:schemeClr val="bg1"/>
              </a:solidFill>
              <a:latin typeface="Nunito Black" pitchFamily="2" charset="-52"/>
            </a:endParaRPr>
          </a:p>
          <a:p>
            <a:pPr>
              <a:lnSpc>
                <a:spcPct val="108000"/>
              </a:lnSpc>
            </a:pPr>
            <a:r>
              <a:rPr lang="ru-RU" sz="1600" dirty="0">
                <a:solidFill>
                  <a:schemeClr val="bg1"/>
                </a:solidFill>
                <a:latin typeface="Nunito Sans SemiBold" pitchFamily="2" charset="-52"/>
              </a:rPr>
              <a:t>https://github.com/AnnaKotlova111/CtrlAltWin_Finni/releases</a:t>
            </a:r>
          </a:p>
          <a:p>
            <a:pPr>
              <a:lnSpc>
                <a:spcPct val="108000"/>
              </a:lnSpc>
            </a:pPr>
            <a:endParaRPr sz="1600" dirty="0">
              <a:solidFill>
                <a:schemeClr val="bg1"/>
              </a:solidFill>
              <a:latin typeface="Nunito Sans Semi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71741C-1468-520B-72AA-5225C911C4B1}"/>
              </a:ext>
            </a:extLst>
          </p:cNvPr>
          <p:cNvSpPr txBox="1"/>
          <p:nvPr/>
        </p:nvSpPr>
        <p:spPr>
          <a:xfrm>
            <a:off x="800486" y="3257516"/>
            <a:ext cx="6569629" cy="7928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lang="ru-RU" sz="1600" b="1" dirty="0">
                <a:solidFill>
                  <a:schemeClr val="bg1"/>
                </a:solidFill>
                <a:latin typeface="Nunito Black" pitchFamily="2" charset="-52"/>
              </a:rPr>
              <a:t>Документация</a:t>
            </a:r>
            <a:r>
              <a:rPr sz="1600" b="1" i="0" dirty="0">
                <a:solidFill>
                  <a:schemeClr val="bg1"/>
                </a:solidFill>
                <a:latin typeface="Nunito Black" pitchFamily="2" charset="-52"/>
              </a:rPr>
              <a:t>: </a:t>
            </a:r>
            <a:r>
              <a:rPr lang="en-US" sz="1600" dirty="0">
                <a:solidFill>
                  <a:schemeClr val="bg1"/>
                </a:solidFill>
                <a:latin typeface="Nunito Sans SemiBold" pitchFamily="2" charset="-52"/>
              </a:rPr>
              <a:t>https://github.com/AnnaKotlova111/CtrlAltWin_Finni/tree/main/docs</a:t>
            </a:r>
            <a:endParaRPr lang="ru-RU" sz="1600" dirty="0">
              <a:solidFill>
                <a:schemeClr val="bg1"/>
              </a:solidFill>
              <a:latin typeface="Nunito Sans SemiBold" pitchFamily="2" charset="-52"/>
            </a:endParaRPr>
          </a:p>
          <a:p>
            <a:pPr>
              <a:lnSpc>
                <a:spcPct val="108000"/>
              </a:lnSpc>
            </a:pPr>
            <a:endParaRPr sz="1600" dirty="0">
              <a:solidFill>
                <a:schemeClr val="bg1"/>
              </a:solidFill>
              <a:latin typeface="Nunito Sans SemiBold" pitchFamily="2" charset="-5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CC5408-BF0C-40F8-BF6B-3470113B2F43}"/>
              </a:ext>
            </a:extLst>
          </p:cNvPr>
          <p:cNvSpPr txBox="1"/>
          <p:nvPr/>
        </p:nvSpPr>
        <p:spPr>
          <a:xfrm>
            <a:off x="800487" y="4060377"/>
            <a:ext cx="6336598" cy="7928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lang="ru-RU" sz="1600" b="1" dirty="0">
                <a:solidFill>
                  <a:schemeClr val="bg1"/>
                </a:solidFill>
                <a:latin typeface="Nunito Black" pitchFamily="2" charset="-52"/>
              </a:rPr>
              <a:t>Материалы для </a:t>
            </a:r>
            <a:r>
              <a:rPr lang="en-US" sz="1600" b="1" dirty="0" err="1">
                <a:solidFill>
                  <a:schemeClr val="bg1"/>
                </a:solidFill>
                <a:latin typeface="Nunito Black" pitchFamily="2" charset="-52"/>
              </a:rPr>
              <a:t>RuStore</a:t>
            </a:r>
            <a:r>
              <a:rPr sz="1600" b="1" i="0" dirty="0">
                <a:solidFill>
                  <a:schemeClr val="bg1"/>
                </a:solidFill>
                <a:latin typeface="Nunito Black" pitchFamily="2" charset="-52"/>
              </a:rPr>
              <a:t>: </a:t>
            </a:r>
            <a:endParaRPr lang="ru-RU" sz="1600" b="1" i="0" dirty="0">
              <a:solidFill>
                <a:schemeClr val="bg1"/>
              </a:solidFill>
              <a:latin typeface="Nunito Black" pitchFamily="2" charset="-52"/>
            </a:endParaRPr>
          </a:p>
          <a:p>
            <a:pPr>
              <a:lnSpc>
                <a:spcPct val="108000"/>
              </a:lnSpc>
            </a:pPr>
            <a:r>
              <a:rPr lang="en-US" sz="1600" dirty="0">
                <a:solidFill>
                  <a:schemeClr val="bg1"/>
                </a:solidFill>
                <a:latin typeface="Nunito Sans SemiBold" pitchFamily="2" charset="-52"/>
              </a:rPr>
              <a:t>https://cloud.mail.ru/public/phRh/tfT223Xg7</a:t>
            </a:r>
            <a:endParaRPr lang="ru-RU" sz="1600" dirty="0">
              <a:solidFill>
                <a:schemeClr val="bg1"/>
              </a:solidFill>
              <a:latin typeface="Nunito Sans SemiBold" pitchFamily="2" charset="-52"/>
            </a:endParaRPr>
          </a:p>
          <a:p>
            <a:pPr>
              <a:lnSpc>
                <a:spcPct val="108000"/>
              </a:lnSpc>
            </a:pPr>
            <a:endParaRPr sz="1600" dirty="0">
              <a:solidFill>
                <a:schemeClr val="bg1"/>
              </a:solidFill>
              <a:latin typeface="Nunito Sans SemiBold" pitchFamily="2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2E23C4-68DE-C205-4A9C-3BA5A391C254}"/>
              </a:ext>
            </a:extLst>
          </p:cNvPr>
          <p:cNvSpPr txBox="1"/>
          <p:nvPr/>
        </p:nvSpPr>
        <p:spPr>
          <a:xfrm>
            <a:off x="800487" y="4863237"/>
            <a:ext cx="6336598" cy="5269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lang="ru-RU" sz="1600" b="1" dirty="0">
                <a:solidFill>
                  <a:schemeClr val="bg1"/>
                </a:solidFill>
                <a:latin typeface="Nunito Black" pitchFamily="2" charset="-52"/>
              </a:rPr>
              <a:t>Веб-версия</a:t>
            </a:r>
            <a:r>
              <a:rPr sz="1600" b="1" dirty="0">
                <a:solidFill>
                  <a:schemeClr val="bg1"/>
                </a:solidFill>
                <a:latin typeface="Nunito Black" pitchFamily="2" charset="-52"/>
              </a:rPr>
              <a:t>: </a:t>
            </a:r>
            <a:endParaRPr lang="ru-RU" sz="1600" b="1" dirty="0">
              <a:solidFill>
                <a:schemeClr val="bg1"/>
              </a:solidFill>
              <a:latin typeface="Nunito Black" pitchFamily="2" charset="-52"/>
            </a:endParaRPr>
          </a:p>
          <a:p>
            <a:pPr>
              <a:lnSpc>
                <a:spcPct val="108000"/>
              </a:lnSpc>
            </a:pPr>
            <a:r>
              <a:rPr lang="ru-RU" sz="1600" dirty="0">
                <a:solidFill>
                  <a:schemeClr val="bg1"/>
                </a:solidFill>
                <a:latin typeface="Nunito Sans SemiBold" pitchFamily="2" charset="-52"/>
              </a:rPr>
              <a:t>https://demoversctrlaltwin.ru/</a:t>
            </a:r>
            <a:endParaRPr sz="1600" dirty="0">
              <a:solidFill>
                <a:schemeClr val="bg1"/>
              </a:solidFill>
              <a:latin typeface="Nunito Sans SemiBold" pitchFamily="2" charset="-52"/>
            </a:endParaRPr>
          </a:p>
        </p:txBody>
      </p:sp>
      <p:sp>
        <p:nvSpPr>
          <p:cNvPr id="6" name="Номер слайда 20">
            <a:extLst>
              <a:ext uri="{FF2B5EF4-FFF2-40B4-BE49-F238E27FC236}">
                <a16:creationId xmlns:a16="http://schemas.microsoft.com/office/drawing/2014/main" id="{E97DA4B0-EC53-5A91-9A90-5589C1CC3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11562</TotalTime>
  <Words>1815</Words>
  <Application>Microsoft Office PowerPoint</Application>
  <PresentationFormat>Широкоэкранный</PresentationFormat>
  <Paragraphs>202</Paragraphs>
  <Slides>14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Calibri</vt:lpstr>
      <vt:lpstr>Montserrat</vt:lpstr>
      <vt:lpstr>Nunito</vt:lpstr>
      <vt:lpstr>Nunito Black</vt:lpstr>
      <vt:lpstr>Nunito Sans SemiBold</vt:lpstr>
      <vt:lpstr>Wingdings</vt:lpstr>
      <vt:lpstr>Для Академия инноваторов 16_9</vt:lpstr>
      <vt:lpstr>CTRL + ALT + WIN</vt:lpstr>
      <vt:lpstr>КОМАНДА  «CTRL + ALT+ WIN»</vt:lpstr>
      <vt:lpstr>КОМАНДА «CTRL + ALT + WIN»</vt:lpstr>
      <vt:lpstr>КОМАНДА «CTRL + ALT + WIN»</vt:lpstr>
      <vt:lpstr>КОРОТКО О РЕШЕНИИ</vt:lpstr>
      <vt:lpstr>ПРОБЛЕМА И ДЛЯ КОГО МЫ ЕЁ РЕШАЕМ</vt:lpstr>
      <vt:lpstr>ЧЕМУ УЧИТ ИГРА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terms:created xsi:type="dcterms:W3CDTF">2023-05-15T07:36:23Z</dcterms:created>
  <dcterms:modified xsi:type="dcterms:W3CDTF">2026-10-20T18:25:40Z</dcterms:modified>
</cp:coreProperties>
</file>